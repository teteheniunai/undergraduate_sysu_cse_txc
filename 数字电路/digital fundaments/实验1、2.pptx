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81" r:id="rId4"/>
  </p:sldMasterIdLst>
  <p:notesMasterIdLst>
    <p:notesMasterId r:id="rId6"/>
  </p:notesMasterIdLst>
  <p:handoutMasterIdLst>
    <p:handoutMasterId r:id="rId56"/>
  </p:handoutMasterIdLst>
  <p:sldIdLst>
    <p:sldId id="622" r:id="rId5"/>
    <p:sldId id="488" r:id="rId7"/>
    <p:sldId id="489" r:id="rId8"/>
    <p:sldId id="491" r:id="rId9"/>
    <p:sldId id="667" r:id="rId10"/>
    <p:sldId id="490" r:id="rId11"/>
    <p:sldId id="675" r:id="rId12"/>
    <p:sldId id="676" r:id="rId13"/>
    <p:sldId id="677" r:id="rId14"/>
    <p:sldId id="678" r:id="rId15"/>
    <p:sldId id="679" r:id="rId16"/>
    <p:sldId id="680" r:id="rId17"/>
    <p:sldId id="674" r:id="rId18"/>
    <p:sldId id="259" r:id="rId19"/>
    <p:sldId id="260" r:id="rId20"/>
    <p:sldId id="263" r:id="rId21"/>
    <p:sldId id="261" r:id="rId22"/>
    <p:sldId id="264" r:id="rId23"/>
    <p:sldId id="265" r:id="rId24"/>
    <p:sldId id="266" r:id="rId25"/>
    <p:sldId id="492" r:id="rId26"/>
    <p:sldId id="668" r:id="rId27"/>
    <p:sldId id="493" r:id="rId28"/>
    <p:sldId id="681" r:id="rId29"/>
    <p:sldId id="361" r:id="rId30"/>
    <p:sldId id="363" r:id="rId31"/>
    <p:sldId id="467" r:id="rId32"/>
    <p:sldId id="367" r:id="rId33"/>
    <p:sldId id="457" r:id="rId34"/>
    <p:sldId id="459" r:id="rId35"/>
    <p:sldId id="670" r:id="rId36"/>
    <p:sldId id="671" r:id="rId37"/>
    <p:sldId id="672" r:id="rId38"/>
    <p:sldId id="673" r:id="rId39"/>
    <p:sldId id="271" r:id="rId40"/>
    <p:sldId id="272" r:id="rId41"/>
    <p:sldId id="682" r:id="rId42"/>
    <p:sldId id="496" r:id="rId43"/>
    <p:sldId id="460" r:id="rId44"/>
    <p:sldId id="368" r:id="rId45"/>
    <p:sldId id="372" r:id="rId46"/>
    <p:sldId id="461" r:id="rId47"/>
    <p:sldId id="462" r:id="rId48"/>
    <p:sldId id="463" r:id="rId49"/>
    <p:sldId id="464" r:id="rId50"/>
    <p:sldId id="373" r:id="rId51"/>
    <p:sldId id="375" r:id="rId52"/>
    <p:sldId id="377" r:id="rId53"/>
    <p:sldId id="378" r:id="rId54"/>
    <p:sldId id="380" r:id="rId55"/>
  </p:sldIdLst>
  <p:sldSz cx="9144000" cy="6858000" type="screen4x3"/>
  <p:notesSz cx="6760845" cy="99314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96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96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96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96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96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96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96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96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96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C0051C"/>
    <a:srgbClr val="000000"/>
    <a:srgbClr val="D4F127"/>
    <a:srgbClr val="CCFFCC"/>
    <a:srgbClr val="C7051C"/>
    <a:srgbClr val="ECD882"/>
    <a:srgbClr val="D9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74" autoAdjust="0"/>
    <p:restoredTop sz="96790" autoAdjust="0"/>
  </p:normalViewPr>
  <p:slideViewPr>
    <p:cSldViewPr snapToGrid="0" showGuides="1">
      <p:cViewPr varScale="1">
        <p:scale>
          <a:sx n="64" d="100"/>
          <a:sy n="64" d="100"/>
        </p:scale>
        <p:origin x="97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38"/>
    </p:cViewPr>
  </p:sorterViewPr>
  <p:notesViewPr>
    <p:cSldViewPr snapToGrid="0">
      <p:cViewPr>
        <p:scale>
          <a:sx n="100" d="100"/>
          <a:sy n="100" d="100"/>
        </p:scale>
        <p:origin x="-1278" y="1224"/>
      </p:cViewPr>
      <p:guideLst>
        <p:guide orient="horz" pos="3128"/>
        <p:guide pos="21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30" tIns="45865" rIns="91730" bIns="45865" numCol="1" anchor="t" anchorCtr="0" compatLnSpc="1"/>
          <a:lstStyle>
            <a:lvl1pPr defTabSz="91757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0638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30" tIns="45865" rIns="91730" bIns="45865" numCol="1" anchor="t" anchorCtr="0" compatLnSpc="1"/>
          <a:lstStyle>
            <a:lvl1pPr algn="r" defTabSz="91757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4513"/>
            <a:ext cx="293052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30" tIns="45865" rIns="91730" bIns="45865" numCol="1" anchor="b" anchorCtr="0" compatLnSpc="1"/>
          <a:lstStyle>
            <a:lvl1pPr defTabSz="91757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0638" y="9434513"/>
            <a:ext cx="293052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30" tIns="45865" rIns="91730" bIns="45865" numCol="1" anchor="b" anchorCtr="0" compatLnSpc="1"/>
          <a:lstStyle>
            <a:lvl1pPr algn="r" defTabSz="91757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  <a:ea typeface="+mn-ea"/>
              </a:defRPr>
            </a:lvl1pPr>
          </a:lstStyle>
          <a:p>
            <a:pPr>
              <a:defRPr/>
            </a:pPr>
            <a:fld id="{C96687EB-1D1A-4B49-992D-147B58DBC3B6}" type="slidenum">
              <a:rPr lang="zh-CN" altLang="en-GB"/>
            </a:fld>
            <a:endParaRPr lang="en-GB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30" tIns="45865" rIns="91730" bIns="45865" numCol="1" anchor="t" anchorCtr="0" compatLnSpc="1"/>
          <a:lstStyle>
            <a:lvl1pPr defTabSz="91757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  <a:latin typeface="Times New Roman" panose="02020703060505090304" pitchFamily="18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0638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30" tIns="45865" rIns="91730" bIns="45865" numCol="1" anchor="t" anchorCtr="0" compatLnSpc="1"/>
          <a:lstStyle>
            <a:lvl1pPr algn="r" defTabSz="91757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  <a:latin typeface="Times New Roman" panose="02020703060505090304" pitchFamily="18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1700" y="4718050"/>
            <a:ext cx="4957763" cy="44688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30" tIns="45865" rIns="91730" bIns="45865" numCol="1" anchor="t" anchorCtr="0" compatLnSpc="1"/>
          <a:lstStyle/>
          <a:p>
            <a:pPr lvl="0"/>
            <a:r>
              <a:rPr lang="en-GB" altLang="zh-CN" noProof="0"/>
              <a:t>Click to edit Master text styles</a:t>
            </a:r>
            <a:endParaRPr lang="en-GB" altLang="zh-CN" noProof="0"/>
          </a:p>
          <a:p>
            <a:pPr lvl="1"/>
            <a:r>
              <a:rPr lang="en-GB" altLang="zh-CN" noProof="0"/>
              <a:t>Second level</a:t>
            </a:r>
            <a:endParaRPr lang="en-GB" altLang="zh-CN" noProof="0"/>
          </a:p>
          <a:p>
            <a:pPr lvl="2"/>
            <a:r>
              <a:rPr lang="en-GB" altLang="zh-CN" noProof="0"/>
              <a:t>Third level</a:t>
            </a:r>
            <a:endParaRPr lang="en-GB" altLang="zh-CN" noProof="0"/>
          </a:p>
          <a:p>
            <a:pPr lvl="3"/>
            <a:r>
              <a:rPr lang="en-GB" altLang="zh-CN" noProof="0"/>
              <a:t>Fourth level</a:t>
            </a:r>
            <a:endParaRPr lang="en-GB" altLang="zh-CN" noProof="0"/>
          </a:p>
          <a:p>
            <a:pPr lvl="4"/>
            <a:r>
              <a:rPr lang="en-GB" altLang="zh-CN" noProof="0"/>
              <a:t>Fifth level</a:t>
            </a:r>
            <a:endParaRPr lang="en-GB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4513"/>
            <a:ext cx="293052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30" tIns="45865" rIns="91730" bIns="45865" numCol="1" anchor="b" anchorCtr="0" compatLnSpc="1"/>
          <a:lstStyle>
            <a:lvl1pPr defTabSz="91757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  <a:latin typeface="Times New Roman" panose="02020703060505090304" pitchFamily="18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0638" y="9434513"/>
            <a:ext cx="293052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730" tIns="45865" rIns="91730" bIns="45865" numCol="1" anchor="b" anchorCtr="0" compatLnSpc="1"/>
          <a:lstStyle>
            <a:lvl1pPr algn="r" defTabSz="91757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  <a:latin typeface="Times New Roman" panose="02020703060505090304" pitchFamily="18" charset="0"/>
                <a:ea typeface="+mn-ea"/>
              </a:defRPr>
            </a:lvl1pPr>
          </a:lstStyle>
          <a:p>
            <a:pPr>
              <a:defRPr/>
            </a:pPr>
            <a:fld id="{4B4DCDA2-C986-4388-953F-142FEE88A34B}" type="slidenum">
              <a:rPr lang="zh-CN" altLang="en-GB"/>
            </a:fld>
            <a:endParaRPr lang="en-GB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70306050509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70306050509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70306050509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70306050509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70306050509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</a:ln>
        </p:spPr>
        <p:txBody>
          <a:bodyPr/>
          <a:lstStyle/>
          <a:p>
            <a:pPr>
              <a:buClr>
                <a:srgbClr val="0000FF"/>
              </a:buClr>
              <a:defRPr/>
            </a:pPr>
            <a:fld id="{B44AD2B7-96EF-43A4-B1CE-C7467BEBC3FE}" type="slidenum">
              <a:rPr lang="zh-CN" altLang="en-GB" smtClean="0">
                <a:solidFill>
                  <a:srgbClr val="000000"/>
                </a:solidFill>
              </a:rPr>
            </a:fld>
            <a:endParaRPr lang="en-GB" altLang="zh-CN">
              <a:solidFill>
                <a:srgbClr val="000000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4DCDA2-C986-4388-953F-142FEE88A34B}" type="slidenum">
              <a:rPr lang="zh-CN" altLang="en-GB" smtClean="0"/>
            </a:fld>
            <a:endParaRPr lang="en-GB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1027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1028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grpSp>
            <p:nvGrpSpPr>
              <p:cNvPr id="16" name="Group 1029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1030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9" name="Line 1031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20" name="Line 1032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21" name="Line 1033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22" name="Line 1034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23" name="Line 1035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24" name="Line 1036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25" name="Line 1037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26" name="Line 1038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27" name="Line 1039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28" name="Line 1040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29" name="Line 1041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30" name="Line 1042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31" name="Line 1043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32" name="Line 1044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33" name="Line 1045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34" name="Line 1046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35" name="Line 1047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36" name="Line 1048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37" name="Line 1049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38" name="Line 1050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39" name="Line 1051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40" name="Line 1052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41" name="Line 1053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42" name="Line 1054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43" name="Line 1055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44" name="Line 1056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45" name="Line 1057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46" name="Line 1058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47" name="Line 1059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48" name="Line 1060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49" name="Line 1061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50" name="Line 1062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51" name="Line 1063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52" name="Line 1064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53" name="Line 1065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54" name="Line 1066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55" name="Line 1067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56" name="Line 1068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57" name="Line 1069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58" name="Line 1070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59" name="Line 1071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60" name="Line 1072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61" name="Line 1073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62" name="Line 1074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63" name="Line 1075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64" name="Line 1076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65" name="Line 1077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66" name="Line 1078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67" name="Line 1079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68" name="Line 1080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</p:grpSp>
          <p:sp>
            <p:nvSpPr>
              <p:cNvPr id="17" name="Line 1081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</p:grpSp>
        <p:grpSp>
          <p:nvGrpSpPr>
            <p:cNvPr id="6" name="Group 1082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1083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12" name="Line 1084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13" name="Line 1085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14" name="Arc 1086"/>
              <p:cNvSpPr/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  <p:grpSp>
          <p:nvGrpSpPr>
            <p:cNvPr id="7" name="Group 1087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1088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9" name="Line 1089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10" name="Arc 1090"/>
              <p:cNvSpPr/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</p:grpSp>
      <p:sp>
        <p:nvSpPr>
          <p:cNvPr id="11331" name="Rectangle 1091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altLang="zh-CN" noProof="0"/>
              <a:t>Click to edit Master title style</a:t>
            </a:r>
            <a:endParaRPr lang="en-GB" altLang="zh-CN" noProof="0"/>
          </a:p>
        </p:txBody>
      </p:sp>
      <p:sp>
        <p:nvSpPr>
          <p:cNvPr id="11332" name="Rectangle 1092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GB" altLang="zh-CN" noProof="0"/>
              <a:t>Click to edit Master subtitle style</a:t>
            </a:r>
            <a:endParaRPr lang="en-GB" altLang="zh-CN" noProof="0"/>
          </a:p>
        </p:txBody>
      </p:sp>
      <p:sp>
        <p:nvSpPr>
          <p:cNvPr id="69" name="Rectangle 1093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70" name="Rectangle 109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71" name="Rectangle 109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9559A8-07B8-41DC-8086-99238E254003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FC249-0138-4740-AD7C-C31857BF085C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46822-C03E-4123-AAA3-694892E930AA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2B20E-8408-4477-A85C-F24A0245747E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9222C-173E-4A7C-B73A-F7CC3637EE50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19196-5D3D-4F53-8B0A-565DFA859A98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C02A2A-6DB3-4403-9570-03352F0E6CA5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1E5A7-5DDB-4451-B975-4037761C40AF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E4871-2467-47A4-B708-05C19D2BCB0D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6168B7-7BA5-4D32-BCBC-45CE56E846A1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18116-60DB-4F94-93BB-A111D536397C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04800"/>
            <a:ext cx="8001000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B5F724-CEF5-4D8A-942A-DC8E1200393A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4063F-562B-4B81-9512-DF9CAC57B684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1" name="Rectangle 1091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GB" altLang="zh-CN"/>
          </a:p>
        </p:txBody>
      </p:sp>
      <p:sp>
        <p:nvSpPr>
          <p:cNvPr id="11332" name="Rectangle 1092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en-GB" altLang="zh-CN"/>
          </a:p>
        </p:txBody>
      </p:sp>
      <p:sp>
        <p:nvSpPr>
          <p:cNvPr id="4" name="Rectangle 1093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 kumimoji="1" sz="1400" b="0">
                <a:solidFill>
                  <a:srgbClr val="40458C"/>
                </a:solidFill>
                <a:latin typeface="Times New Roman" panose="0202070306050509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2153B89-7627-42D6-8C42-02A45539733F}" type="datetime1">
              <a:rPr lang="zh-CN" altLang="en-US"/>
            </a:fld>
            <a:endParaRPr lang="en-US" altLang="zh-CN"/>
          </a:p>
        </p:txBody>
      </p:sp>
      <p:sp>
        <p:nvSpPr>
          <p:cNvPr id="5" name="Rectangle 109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9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09341E-252E-4C9A-9F2D-7D79DDA5568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703060505090304" pitchFamily="18" charset="0"/>
                <a:ea typeface="黑体" panose="0201060906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703060505090304" pitchFamily="18" charset="0"/>
                <a:ea typeface="黑体" panose="02010609060101010101" pitchFamily="2" charset="-122"/>
              </a:defRPr>
            </a:lvl1pPr>
            <a:lvl2pPr>
              <a:defRPr baseline="0">
                <a:latin typeface="Times New Roman" panose="02020703060505090304" pitchFamily="18" charset="0"/>
                <a:ea typeface="黑体" panose="02010609060101010101" pitchFamily="2" charset="-122"/>
              </a:defRPr>
            </a:lvl2pPr>
            <a:lvl3pPr>
              <a:defRPr baseline="0">
                <a:latin typeface="Times New Roman" panose="02020703060505090304" pitchFamily="18" charset="0"/>
                <a:ea typeface="黑体" panose="02010609060101010101" pitchFamily="2" charset="-122"/>
              </a:defRPr>
            </a:lvl3pPr>
            <a:lvl4pPr>
              <a:defRPr baseline="0">
                <a:latin typeface="Times New Roman" panose="02020703060505090304" pitchFamily="18" charset="0"/>
                <a:ea typeface="黑体" panose="02010609060101010101" pitchFamily="2" charset="-122"/>
              </a:defRPr>
            </a:lvl4pPr>
            <a:lvl5pPr>
              <a:defRPr baseline="0">
                <a:latin typeface="Times New Roman" panose="02020703060505090304" pitchFamily="18" charset="0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D2DE8-3683-4B97-BA12-CBF361AC562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199189-2700-4E2A-B2A0-C2A2FDCAAE1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B8637-33D7-4C87-B05E-C013772ED2A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8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C59B1-69D9-4A2B-8B42-37121AEDF7F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48F218-CA49-400B-ADAC-7423016E52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79A1E-5E89-4860-BB17-B9340206C1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E0DBA-7C1A-4C41-A0D1-DE7B0D4EDCA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6E1DF5-C9BB-42EA-A751-F295E986CE8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A8E42-A7D9-4DC3-A61D-20F596608A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A8B91-41A6-4863-80F3-9071761ACBA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4689D-D10F-47D3-89B9-8936446D3B17}" type="slidenum">
              <a:rPr lang="zh-CN" altLang="en-GB"/>
            </a:fld>
            <a:endParaRPr lang="en-GB" altLang="zh-CN"/>
          </a:p>
        </p:txBody>
      </p:sp>
    </p:spTree>
  </p:cSld>
  <p:clrMapOvr>
    <a:masterClrMapping/>
  </p:clrMapOvr>
  <p:transition advTm="12468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04800"/>
            <a:ext cx="8001000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D05E2F-9975-466C-89FF-C8586972BFD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8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88AA1-B9CF-4FD1-9114-2B9F7DDE4BD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6B3339-F9E9-4518-B66E-16F18D267B2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73BC0E-2E6E-4B85-9C45-186FC3904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77724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4038600"/>
            <a:ext cx="77724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99BD1-D188-4CAA-A586-4A5B3250B1D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  <a:endParaRPr lang="zh-CN" altLang="en-US" noProof="0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81C22-1019-4BEB-AE87-7D5032454C1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12468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4"/>
          <p:cNvSpPr>
            <a:spLocks noChangeArrowheads="1"/>
          </p:cNvSpPr>
          <p:nvPr userDrawn="1"/>
        </p:nvSpPr>
        <p:spPr bwMode="auto">
          <a:xfrm>
            <a:off x="468313" y="3732213"/>
            <a:ext cx="8207375" cy="46037"/>
          </a:xfrm>
          <a:prstGeom prst="flowChartProcess">
            <a:avLst/>
          </a:prstGeom>
          <a:solidFill>
            <a:srgbClr val="800080"/>
          </a:solidFill>
          <a:ln w="6350">
            <a:solidFill>
              <a:srgbClr val="800080"/>
            </a:solidFill>
            <a:miter lim="800000"/>
          </a:ln>
        </p:spPr>
        <p:txBody>
          <a:bodyPr rot="10800000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>
              <a:solidFill>
                <a:schemeClr val="folHlink"/>
              </a:solidFill>
              <a:latin typeface="+mn-lt"/>
            </a:endParaRPr>
          </a:p>
        </p:txBody>
      </p:sp>
      <p:sp>
        <p:nvSpPr>
          <p:cNvPr id="5" name="Rectangle 6"/>
          <p:cNvSpPr>
            <a:spLocks noChangeArrowheads="1"/>
          </p:cNvSpPr>
          <p:nvPr userDrawn="1"/>
        </p:nvSpPr>
        <p:spPr bwMode="auto">
          <a:xfrm>
            <a:off x="76200" y="76200"/>
            <a:ext cx="8991600" cy="6705600"/>
          </a:xfrm>
          <a:prstGeom prst="rect">
            <a:avLst/>
          </a:prstGeom>
          <a:noFill/>
          <a:ln w="25400">
            <a:solidFill>
              <a:srgbClr val="800080"/>
            </a:solidFill>
            <a:miter lim="800000"/>
          </a:ln>
          <a:effectLst/>
        </p:spPr>
        <p:txBody>
          <a:bodyPr wrap="none" anchor="ctr"/>
          <a:lstStyle/>
          <a:p>
            <a:pPr marL="342900" indent="-342900" algn="ctr">
              <a:spcBef>
                <a:spcPct val="20000"/>
              </a:spcBef>
              <a:buFontTx/>
              <a:buChar char="•"/>
              <a:defRPr/>
            </a:pPr>
            <a:endParaRPr lang="zh-CN" altLang="zh-CN" sz="2800">
              <a:solidFill>
                <a:srgbClr val="FF0000"/>
              </a:solidFill>
            </a:endParaRPr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440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39952" y="4113076"/>
            <a:ext cx="4536504" cy="1752600"/>
          </a:xfrm>
          <a:prstGeom prst="rect">
            <a:avLst/>
          </a:prstGeom>
        </p:spPr>
        <p:txBody>
          <a:bodyPr/>
          <a:lstStyle>
            <a:lvl1pPr marL="0" indent="0" algn="l">
              <a:buFont typeface="Wingdings" panose="05000000000000000000" pitchFamily="2" charset="2"/>
              <a:buNone/>
              <a:defRPr sz="2800" smtClean="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hf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 userDrawn="1"/>
        </p:nvSpPr>
        <p:spPr bwMode="auto">
          <a:xfrm>
            <a:off x="76200" y="76200"/>
            <a:ext cx="8991600" cy="6705600"/>
          </a:xfrm>
          <a:prstGeom prst="rect">
            <a:avLst/>
          </a:prstGeom>
          <a:noFill/>
          <a:ln w="25400">
            <a:solidFill>
              <a:srgbClr val="800080"/>
            </a:solidFill>
            <a:miter lim="800000"/>
          </a:ln>
          <a:effectLst/>
        </p:spPr>
        <p:txBody>
          <a:bodyPr wrap="none" anchor="ctr"/>
          <a:lstStyle/>
          <a:p>
            <a:pPr marL="342900" indent="-342900" algn="ctr">
              <a:spcBef>
                <a:spcPct val="20000"/>
              </a:spcBef>
              <a:buFontTx/>
              <a:buChar char="•"/>
              <a:defRPr/>
            </a:pPr>
            <a:endParaRPr lang="zh-CN" altLang="zh-CN" sz="280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2"/>
          <p:cNvSpPr>
            <a:spLocks noGrp="1"/>
          </p:cNvSpPr>
          <p:nvPr>
            <p:ph idx="1"/>
          </p:nvPr>
        </p:nvSpPr>
        <p:spPr>
          <a:xfrm>
            <a:off x="250825" y="1412776"/>
            <a:ext cx="8642350" cy="4824536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 b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1800" b="1">
                <a:solidFill>
                  <a:srgbClr val="800080"/>
                </a:solidFill>
              </a:defRPr>
            </a:lvl3pPr>
            <a:lvl4pPr>
              <a:defRPr sz="1800"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2.wmf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/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245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46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47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2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49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50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52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53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54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4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5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57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58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59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60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61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62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63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64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65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66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</p:grpSp>
          <p:grpSp>
            <p:nvGrpSpPr>
              <p:cNvPr id="1040" name="Group 27"/>
              <p:cNvGrpSpPr/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268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69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70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71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72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73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74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75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76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77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78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79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80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81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82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83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84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85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86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87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88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89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90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91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92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93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94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95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  <p:sp>
              <p:nvSpPr>
                <p:cNvPr id="10296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lnSpc>
                      <a:spcPct val="8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+mn-ea"/>
                  </a:endParaRPr>
                </a:p>
              </p:txBody>
            </p:sp>
          </p:grpSp>
        </p:grpSp>
        <p:sp>
          <p:nvSpPr>
            <p:cNvPr id="10297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298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endParaRPr>
            </a:p>
          </p:txBody>
        </p:sp>
        <p:grpSp>
          <p:nvGrpSpPr>
            <p:cNvPr id="1035" name="Group 59"/>
            <p:cNvGrpSpPr/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00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10301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+mn-ea"/>
                </a:endParaRPr>
              </a:p>
            </p:txBody>
          </p:sp>
          <p:sp>
            <p:nvSpPr>
              <p:cNvPr id="10302" name="Arc 62"/>
              <p:cNvSpPr/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GB" altLang="zh-CN"/>
              <a:t>Click to edit Master title style</a:t>
            </a:r>
            <a:endParaRPr lang="en-GB" altLang="zh-CN"/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GB" altLang="zh-CN"/>
              <a:t>Click to edit Master text styles</a:t>
            </a:r>
            <a:endParaRPr lang="en-GB" altLang="zh-CN"/>
          </a:p>
          <a:p>
            <a:pPr lvl="1"/>
            <a:r>
              <a:rPr lang="en-GB" altLang="zh-CN"/>
              <a:t>Second level</a:t>
            </a:r>
            <a:endParaRPr lang="en-GB" altLang="zh-CN"/>
          </a:p>
          <a:p>
            <a:pPr lvl="2"/>
            <a:r>
              <a:rPr lang="en-GB" altLang="zh-CN"/>
              <a:t>Third level</a:t>
            </a:r>
            <a:endParaRPr lang="en-GB" altLang="zh-CN"/>
          </a:p>
          <a:p>
            <a:pPr lvl="3"/>
            <a:r>
              <a:rPr lang="en-GB" altLang="zh-CN"/>
              <a:t>Fourth level</a:t>
            </a:r>
            <a:endParaRPr lang="en-GB" altLang="zh-CN"/>
          </a:p>
          <a:p>
            <a:pPr lvl="4"/>
            <a:r>
              <a:rPr lang="en-GB" altLang="zh-CN"/>
              <a:t>Fifth level</a:t>
            </a:r>
            <a:endParaRPr lang="en-GB" altLang="zh-CN"/>
          </a:p>
        </p:txBody>
      </p:sp>
      <p:sp>
        <p:nvSpPr>
          <p:cNvPr id="10305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0306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0307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42025B0-EAF8-4C53-8CFA-55DF906C4A57}" type="slidenum">
              <a:rPr lang="zh-CN" altLang="en-GB"/>
            </a:fld>
            <a:endParaRPr lang="en-GB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205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2062" name="Group 4"/>
              <p:cNvGrpSpPr/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245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46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48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49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3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51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52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53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4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5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56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57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58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59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60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61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62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63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64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65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66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</p:grpSp>
          <p:grpSp>
            <p:nvGrpSpPr>
              <p:cNvPr id="2063" name="Group 27"/>
              <p:cNvGrpSpPr/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268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69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70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71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72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73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74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75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76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77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78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79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80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81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82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83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84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85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86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87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88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89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90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91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92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93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94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95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  <p:sp>
              <p:nvSpPr>
                <p:cNvPr id="10296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solidFill>
                    <a:srgbClr val="E6ECF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80000"/>
                    </a:lnSpc>
                    <a:buClr>
                      <a:schemeClr val="hlink"/>
                    </a:buClr>
                    <a:buSzPct val="110000"/>
                    <a:buFont typeface="Wingdings" panose="05000000000000000000" pitchFamily="2" charset="2"/>
                    <a:buNone/>
                    <a:defRPr/>
                  </a:pPr>
                  <a:endParaRPr kumimoji="1" lang="zh-CN" altLang="en-US" sz="2400">
                    <a:solidFill>
                      <a:srgbClr val="40458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703060505090304" pitchFamily="18" charset="0"/>
                  </a:endParaRPr>
                </a:p>
              </p:txBody>
            </p:sp>
          </p:grpSp>
        </p:grpSp>
        <p:sp>
          <p:nvSpPr>
            <p:cNvPr id="10297" name="Rectangle 57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rgbClr val="E6ECFE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buClr>
                  <a:schemeClr val="hlink"/>
                </a:buClr>
                <a:buSzPct val="110000"/>
                <a:buFont typeface="Wingdings" panose="05000000000000000000" pitchFamily="2" charset="2"/>
                <a:buNone/>
                <a:defRPr/>
              </a:pPr>
              <a:endParaRPr kumimoji="1" lang="zh-CN" altLang="en-US" sz="2400">
                <a:solidFill>
                  <a:srgbClr val="40458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7030605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98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rgbClr val="E6ECFE"/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buClr>
                  <a:schemeClr val="hlink"/>
                </a:buClr>
                <a:buSzPct val="110000"/>
                <a:buFont typeface="Wingdings" panose="05000000000000000000" pitchFamily="2" charset="2"/>
                <a:buNone/>
                <a:defRPr/>
              </a:pPr>
              <a:endParaRPr kumimoji="1" lang="zh-CN" altLang="en-US" sz="2400">
                <a:solidFill>
                  <a:srgbClr val="4045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703060505090304" pitchFamily="18" charset="0"/>
              </a:endParaRPr>
            </a:p>
          </p:txBody>
        </p:sp>
        <p:grpSp>
          <p:nvGrpSpPr>
            <p:cNvPr id="2058" name="Group 59"/>
            <p:cNvGrpSpPr/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00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rgbClr val="E6ECFE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kumimoji="1" lang="zh-CN" altLang="en-US" sz="2400">
                  <a:solidFill>
                    <a:srgbClr val="40458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703060505090304" pitchFamily="18" charset="0"/>
                </a:endParaRPr>
              </a:p>
            </p:txBody>
          </p:sp>
          <p:sp>
            <p:nvSpPr>
              <p:cNvPr id="10301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rgbClr val="E6ECFE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kumimoji="1" lang="zh-CN" altLang="en-US" sz="2400">
                  <a:solidFill>
                    <a:srgbClr val="40458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703060505090304" pitchFamily="18" charset="0"/>
                </a:endParaRPr>
              </a:p>
            </p:txBody>
          </p:sp>
          <p:sp>
            <p:nvSpPr>
              <p:cNvPr id="10302" name="Arc 62"/>
              <p:cNvSpPr/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E6ECFE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None/>
                  <a:defRPr/>
                </a:pPr>
                <a:endParaRPr kumimoji="1" lang="zh-CN" altLang="en-US" sz="2400">
                  <a:solidFill>
                    <a:srgbClr val="40458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703060505090304" pitchFamily="18" charset="0"/>
                </a:endParaRPr>
              </a:p>
            </p:txBody>
          </p:sp>
        </p:grpSp>
      </p:grpSp>
      <p:sp>
        <p:nvSpPr>
          <p:cNvPr id="2051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GB" altLang="zh-CN"/>
          </a:p>
        </p:txBody>
      </p:sp>
      <p:sp>
        <p:nvSpPr>
          <p:cNvPr id="2052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GB" altLang="zh-CN"/>
          </a:p>
        </p:txBody>
      </p:sp>
      <p:sp>
        <p:nvSpPr>
          <p:cNvPr id="10306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 kumimoji="1" sz="1400" b="0">
                <a:solidFill>
                  <a:srgbClr val="40458C"/>
                </a:solidFill>
                <a:latin typeface="Times New Roman" panose="0202070306050509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0307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4388" y="63563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rgbClr val="40458C"/>
                </a:solidFill>
                <a:effectLst/>
                <a:latin typeface="Times New Roman" panose="0202070306050509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71F03D2-5D12-49D0-AF00-62E53E5AEDD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</p:sldLayoutIdLst>
  <p:transition advTm="12468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anose="02010609060101010101" pitchFamily="2" charset="-122"/>
          <a:ea typeface="黑体" panose="02010609060101010101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anose="02010609060101010101" pitchFamily="2" charset="-122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anose="02010609060101010101" pitchFamily="2" charset="-122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黑体" panose="02010609060101010101" pitchFamily="2" charset="-122"/>
          <a:ea typeface="黑体" panose="0201060906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9"/>
        </a:buBlip>
        <a:defRPr sz="3200" b="1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1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260350"/>
            <a:ext cx="6985000" cy="865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AutoShape 14"/>
          <p:cNvSpPr>
            <a:spLocks noChangeArrowheads="1"/>
          </p:cNvSpPr>
          <p:nvPr userDrawn="1"/>
        </p:nvSpPr>
        <p:spPr bwMode="auto">
          <a:xfrm flipV="1">
            <a:off x="250825" y="1233488"/>
            <a:ext cx="8642350" cy="46037"/>
          </a:xfrm>
          <a:prstGeom prst="flowChartProcess">
            <a:avLst/>
          </a:prstGeom>
          <a:solidFill>
            <a:srgbClr val="800080"/>
          </a:solidFill>
          <a:ln w="6350">
            <a:solidFill>
              <a:srgbClr val="800080"/>
            </a:solidFill>
            <a:miter lim="800000"/>
          </a:ln>
        </p:spPr>
        <p:txBody>
          <a:bodyPr rot="10800000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>
              <a:solidFill>
                <a:schemeClr val="folHlink"/>
              </a:solidFill>
              <a:latin typeface="+mn-lt"/>
            </a:endParaRPr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850188" y="157163"/>
            <a:ext cx="1042987" cy="1039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altLang="en-US" sz="1200">
                <a:solidFill>
                  <a:srgbClr val="800080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defRPr>
            </a:lvl1pPr>
          </a:lstStyle>
          <a:p>
            <a:pPr>
              <a:defRPr/>
            </a:pPr>
            <a:fld id="{B94C8BB2-E2FA-47B8-9CC3-3E9AF6182307}" type="datetimeFigureOut">
              <a:rPr lang="en-US" altLang="zh-CN"/>
            </a:fld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200" kern="1200">
                <a:solidFill>
                  <a:srgbClr val="800080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defRPr>
            </a:lvl1pPr>
          </a:lstStyle>
          <a:p>
            <a:pPr>
              <a:defRPr/>
            </a:pPr>
            <a:fld id="{D2F06E92-6C1C-4C92-BC41-041D2E3FFBB2}" type="slidenum">
              <a:rPr lang="en-US" altLang="zh-CN"/>
            </a:fld>
            <a:endParaRPr lang="en-US" dirty="0"/>
          </a:p>
        </p:txBody>
      </p:sp>
      <p:sp>
        <p:nvSpPr>
          <p:cNvPr id="3079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250825" y="1412875"/>
            <a:ext cx="8642350" cy="4824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 userDrawn="1"/>
        </p:nvSpPr>
        <p:spPr bwMode="auto">
          <a:xfrm>
            <a:off x="76200" y="76200"/>
            <a:ext cx="8991600" cy="6705600"/>
          </a:xfrm>
          <a:prstGeom prst="rect">
            <a:avLst/>
          </a:prstGeom>
          <a:noFill/>
          <a:ln w="25400">
            <a:solidFill>
              <a:srgbClr val="800080"/>
            </a:solidFill>
            <a:miter lim="800000"/>
          </a:ln>
          <a:effectLst/>
        </p:spPr>
        <p:txBody>
          <a:bodyPr wrap="none" anchor="ctr"/>
          <a:lstStyle/>
          <a:p>
            <a:pPr marL="342900" indent="-342900" algn="ctr">
              <a:spcBef>
                <a:spcPct val="20000"/>
              </a:spcBef>
              <a:buFontTx/>
              <a:buChar char="•"/>
              <a:defRPr/>
            </a:pPr>
            <a:endParaRPr lang="zh-CN" altLang="zh-CN" sz="2800">
              <a:solidFill>
                <a:srgbClr val="FF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80"/>
          </a:solidFill>
          <a:latin typeface="华文新魏" panose="02010800040101010101" pitchFamily="2" charset="-122"/>
          <a:ea typeface="华文新魏" panose="02010800040101010101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80"/>
          </a:solidFill>
          <a:latin typeface="华文新魏" panose="02010800040101010101" pitchFamily="2" charset="-122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80"/>
          </a:solidFill>
          <a:latin typeface="华文新魏" panose="02010800040101010101" pitchFamily="2" charset="-122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80"/>
          </a:solidFill>
          <a:latin typeface="华文新魏" panose="02010800040101010101" pitchFamily="2" charset="-122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80"/>
          </a:solidFill>
          <a:latin typeface="华文新魏" panose="02010800040101010101" pitchFamily="2" charset="-122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800080"/>
          </a:solidFill>
          <a:latin typeface="Arial" panose="020B060402020209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800080"/>
          </a:solidFill>
          <a:latin typeface="Arial" panose="020B060402020209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800080"/>
          </a:solidFill>
          <a:latin typeface="Arial" panose="020B060402020209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800080"/>
          </a:solidFill>
          <a:latin typeface="Arial" panose="020B060402020209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Font typeface="Wingdings" panose="05000000000000000000" pitchFamily="2" charset="2"/>
        <a:buChar char="Ø"/>
        <a:defRPr sz="24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marL="1257300" indent="-342900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0.emf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4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5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6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jpeg"/><Relationship Id="rId1" Type="http://schemas.openxmlformats.org/officeDocument/2006/relationships/image" Target="../media/image49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058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8435975" cy="10683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defRPr/>
            </a:pPr>
            <a:r>
              <a:rPr kumimoji="1" lang="zh-CN" altLang="en-US" sz="48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703060505090304" pitchFamily="18" charset="0"/>
                <a:ea typeface="黑体" panose="02010609060101010101" pitchFamily="2" charset="-122"/>
              </a:rPr>
              <a:t>  </a:t>
            </a:r>
            <a:endParaRPr kumimoji="1" lang="zh-CN" altLang="en-US" sz="48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703060505090304" pitchFamily="18" charset="0"/>
              <a:ea typeface="黑体" panose="02010609060101010101" pitchFamily="2" charset="-122"/>
            </a:endParaRPr>
          </a:p>
        </p:txBody>
      </p:sp>
      <p:sp>
        <p:nvSpPr>
          <p:cNvPr id="1325059" name="Text Box 3"/>
          <p:cNvSpPr txBox="1">
            <a:spLocks noChangeArrowheads="1"/>
          </p:cNvSpPr>
          <p:nvPr/>
        </p:nvSpPr>
        <p:spPr bwMode="auto">
          <a:xfrm>
            <a:off x="419100" y="371475"/>
            <a:ext cx="4271963" cy="993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352425" indent="-352425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5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703060505090304" pitchFamily="18" charset="0"/>
                <a:ea typeface="黑体" panose="02010609060101010101" pitchFamily="2" charset="-122"/>
              </a:rPr>
              <a:t>  提</a:t>
            </a:r>
            <a:r>
              <a:rPr kumimoji="1" lang="en-US" altLang="zh-CN" sz="5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703060505090304" pitchFamily="18" charset="0"/>
                <a:ea typeface="黑体" panose="02010609060101010101" pitchFamily="2" charset="-122"/>
              </a:rPr>
              <a:t>	</a:t>
            </a:r>
            <a:r>
              <a:rPr kumimoji="1" lang="zh-CN" altLang="en-US" sz="5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703060505090304" pitchFamily="18" charset="0"/>
                <a:ea typeface="黑体" panose="02010609060101010101" pitchFamily="2" charset="-122"/>
              </a:rPr>
              <a:t>纲</a:t>
            </a:r>
            <a:endParaRPr kumimoji="1" lang="en-US" altLang="zh-CN" sz="54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703060505090304" pitchFamily="18" charset="0"/>
              <a:ea typeface="黑体" panose="02010609060101010101" pitchFamily="2" charset="-122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849086" y="2409825"/>
            <a:ext cx="7924800" cy="40671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1"/>
              </a:buBlip>
              <a:defRPr sz="3200" kern="1200">
                <a:solidFill>
                  <a:srgbClr val="000066"/>
                </a:solidFill>
                <a:latin typeface="Arial" panose="020B0604020202090204" pitchFamily="34" charset="0"/>
                <a:ea typeface="黑体" panose="02010609060101010101" pitchFamily="2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Tx/>
              <a:buNone/>
              <a:defRPr/>
            </a:pPr>
            <a:r>
              <a:rPr kumimoji="1" lang="zh-CN" altLang="en-US" sz="4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实验</a:t>
            </a:r>
            <a:r>
              <a:rPr kumimoji="1" lang="en-US" altLang="zh-CN" sz="4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1.</a:t>
            </a:r>
            <a:r>
              <a:rPr kumimoji="1" lang="zh-CN" altLang="en-US" sz="4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计算机辅助电路仿真技术</a:t>
            </a:r>
            <a:endParaRPr kumimoji="1" lang="en-US" altLang="zh-CN" sz="40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Tx/>
              <a:buNone/>
              <a:defRPr/>
            </a:pPr>
            <a:endParaRPr kumimoji="1" lang="en-US" altLang="zh-CN" sz="40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Tx/>
              <a:buNone/>
              <a:defRPr/>
            </a:pPr>
            <a:r>
              <a:rPr kumimoji="1" lang="zh-CN" altLang="en-US" sz="4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实验</a:t>
            </a:r>
            <a:r>
              <a:rPr kumimoji="1" lang="en-US" altLang="zh-CN" sz="4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2. </a:t>
            </a:r>
            <a:r>
              <a:rPr kumimoji="1" lang="zh-CN" altLang="en-US" sz="4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数字电路实验环境</a:t>
            </a:r>
            <a:endParaRPr kumimoji="1" lang="en-US" altLang="zh-CN" sz="40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Tx/>
              <a:buFontTx/>
              <a:buNone/>
              <a:defRPr/>
            </a:pPr>
            <a:endParaRPr kumimoji="1" lang="zh-CN" altLang="en-US" sz="40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1"/>
              </a:buBlip>
              <a:defRPr/>
            </a:pPr>
            <a:endParaRPr lang="zh-CN" altLang="en-US" sz="3600" dirty="0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noFill/>
          <a:ln>
            <a:miter lim="800000"/>
          </a:ln>
        </p:spPr>
        <p:txBody>
          <a:bodyPr/>
          <a:lstStyle/>
          <a:p>
            <a:fld id="{83047F06-F6AD-47B9-B043-BB2C393C5815}" type="slidenum">
              <a:rPr lang="zh-CN" altLang="en-GB" smtClean="0"/>
            </a:fld>
            <a:endParaRPr lang="en-GB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922" y="794657"/>
            <a:ext cx="8466042" cy="600607"/>
          </a:xfrm>
        </p:spPr>
        <p:txBody>
          <a:bodyPr/>
          <a:lstStyle/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1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计算机辅助电路仿真技术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567192"/>
            <a:ext cx="7772400" cy="4103563"/>
          </a:xfrm>
        </p:spPr>
        <p:txBody>
          <a:bodyPr/>
          <a:lstStyle/>
          <a:p>
            <a:r>
              <a:rPr lang="en-US" altLang="zh-CN" sz="2400" dirty="0">
                <a:solidFill>
                  <a:srgbClr val="002060"/>
                </a:solidFill>
              </a:rPr>
              <a:t>Proteus</a:t>
            </a:r>
            <a:r>
              <a:rPr lang="zh-CN" altLang="en-US" sz="2400" dirty="0">
                <a:solidFill>
                  <a:srgbClr val="002060"/>
                </a:solidFill>
              </a:rPr>
              <a:t>：一种</a:t>
            </a:r>
            <a:r>
              <a:rPr lang="en-US" altLang="zh-CN" sz="2400" dirty="0">
                <a:solidFill>
                  <a:srgbClr val="002060"/>
                </a:solidFill>
              </a:rPr>
              <a:t>EDA</a:t>
            </a:r>
            <a:r>
              <a:rPr lang="zh-CN" altLang="en-US" sz="2400" dirty="0">
                <a:solidFill>
                  <a:srgbClr val="002060"/>
                </a:solidFill>
              </a:rPr>
              <a:t>工具</a:t>
            </a:r>
            <a:endParaRPr lang="en-US" altLang="zh-CN" sz="2400" dirty="0">
              <a:solidFill>
                <a:srgbClr val="002060"/>
              </a:solidFill>
            </a:endParaRPr>
          </a:p>
          <a:p>
            <a:pPr lvl="1"/>
            <a:r>
              <a:rPr lang="zh-CN" altLang="en-US" sz="2400" dirty="0">
                <a:solidFill>
                  <a:srgbClr val="002060"/>
                </a:solidFill>
                <a:ea typeface="+mn-ea"/>
                <a:cs typeface="+mn-cs"/>
              </a:rPr>
              <a:t>原理图布图</a:t>
            </a:r>
            <a:endParaRPr lang="en-US" altLang="zh-CN" sz="2400" dirty="0">
              <a:solidFill>
                <a:srgbClr val="002060"/>
              </a:solidFill>
              <a:ea typeface="+mn-ea"/>
              <a:cs typeface="+mn-cs"/>
            </a:endParaRPr>
          </a:p>
          <a:p>
            <a:pPr lvl="1"/>
            <a:r>
              <a:rPr lang="zh-CN" altLang="en-US" sz="2400" dirty="0">
                <a:solidFill>
                  <a:srgbClr val="002060"/>
                </a:solidFill>
                <a:ea typeface="+mn-ea"/>
                <a:cs typeface="+mn-cs"/>
              </a:rPr>
              <a:t>电路仿真功能强大</a:t>
            </a:r>
            <a:endParaRPr lang="en-US" altLang="zh-CN" sz="2400" dirty="0">
              <a:solidFill>
                <a:srgbClr val="002060"/>
              </a:solidFill>
              <a:ea typeface="+mn-ea"/>
              <a:cs typeface="+mn-cs"/>
            </a:endParaRPr>
          </a:p>
          <a:p>
            <a:pPr lvl="1"/>
            <a:r>
              <a:rPr lang="zh-CN" altLang="en-US" sz="2400" dirty="0">
                <a:solidFill>
                  <a:srgbClr val="002060"/>
                </a:solidFill>
                <a:ea typeface="+mn-ea"/>
                <a:cs typeface="+mn-cs"/>
              </a:rPr>
              <a:t>单片机与外围电路协同仿真</a:t>
            </a:r>
            <a:endParaRPr lang="en-US" altLang="zh-CN" sz="2400" dirty="0">
              <a:solidFill>
                <a:srgbClr val="002060"/>
              </a:solidFill>
              <a:ea typeface="+mn-ea"/>
              <a:cs typeface="+mn-cs"/>
            </a:endParaRPr>
          </a:p>
          <a:p>
            <a:pPr lvl="1"/>
            <a:r>
              <a:rPr lang="en-US" altLang="zh-CN" sz="2400" dirty="0">
                <a:solidFill>
                  <a:srgbClr val="002060"/>
                </a:solidFill>
                <a:ea typeface="+mn-ea"/>
                <a:cs typeface="+mn-cs"/>
              </a:rPr>
              <a:t>PCB</a:t>
            </a:r>
            <a:r>
              <a:rPr lang="zh-CN" altLang="en-US" sz="2400" dirty="0">
                <a:solidFill>
                  <a:srgbClr val="002060"/>
                </a:solidFill>
                <a:ea typeface="+mn-ea"/>
                <a:cs typeface="+mn-cs"/>
              </a:rPr>
              <a:t>设计平台</a:t>
            </a:r>
            <a:endParaRPr lang="en-US" altLang="zh-CN" sz="2400" dirty="0">
              <a:solidFill>
                <a:srgbClr val="002060"/>
              </a:solidFill>
              <a:ea typeface="+mn-ea"/>
              <a:cs typeface="+mn-cs"/>
            </a:endParaRPr>
          </a:p>
          <a:p>
            <a:r>
              <a:rPr lang="zh-CN" altLang="en-US" sz="2400" dirty="0">
                <a:solidFill>
                  <a:srgbClr val="002060"/>
                </a:solidFill>
              </a:rPr>
              <a:t>本学期实验课的预习中用于仿真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922" y="4305346"/>
            <a:ext cx="4339709" cy="232624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660" y="4305346"/>
            <a:ext cx="3878568" cy="2374624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85800" y="6596390"/>
            <a:ext cx="6165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https://blog.csdn.net/weixin_43772810/article/details/121993865</a:t>
            </a:r>
            <a:endParaRPr lang="zh-CN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2352" y="1629679"/>
            <a:ext cx="8579296" cy="4389437"/>
          </a:xfrm>
        </p:spPr>
        <p:txBody>
          <a:bodyPr/>
          <a:lstStyle/>
          <a:p>
            <a:pPr marL="393700" lvl="1" indent="0">
              <a:buNone/>
            </a:pPr>
            <a:r>
              <a:rPr lang="zh-CN" altLang="en-US" sz="2000" dirty="0"/>
              <a:t>例：用</a:t>
            </a:r>
            <a:r>
              <a:rPr lang="en-US" altLang="zh-CN" sz="2000" dirty="0"/>
              <a:t>74LS197</a:t>
            </a:r>
            <a:r>
              <a:rPr lang="zh-CN" altLang="en-US" sz="2000" dirty="0"/>
              <a:t>构成</a:t>
            </a:r>
            <a:r>
              <a:rPr lang="en-US" altLang="zh-CN" sz="2000" dirty="0"/>
              <a:t>16</a:t>
            </a:r>
            <a:r>
              <a:rPr lang="zh-CN" altLang="en-US" sz="2000" dirty="0"/>
              <a:t>进制计数器，利用</a:t>
            </a:r>
            <a:r>
              <a:rPr lang="en-US" altLang="zh-CN" sz="2000" dirty="0"/>
              <a:t>Proteus</a:t>
            </a:r>
            <a:r>
              <a:rPr lang="zh-CN" altLang="en-US" sz="2000" dirty="0"/>
              <a:t>仿真，观察输出波形</a:t>
            </a:r>
            <a:endParaRPr lang="en-US" altLang="zh-CN" sz="2000" dirty="0"/>
          </a:p>
          <a:p>
            <a:pPr lvl="2"/>
            <a:r>
              <a:rPr lang="zh-CN" altLang="en-US" sz="2000" dirty="0"/>
              <a:t>选择器件</a:t>
            </a:r>
            <a:endParaRPr lang="en-US" altLang="zh-CN" sz="2000" dirty="0"/>
          </a:p>
          <a:p>
            <a:pPr lvl="3"/>
            <a:r>
              <a:rPr lang="en-US" altLang="zh-CN" sz="1800" dirty="0"/>
              <a:t>74LS197</a:t>
            </a:r>
            <a:endParaRPr lang="en-US" altLang="zh-CN" sz="1800" dirty="0"/>
          </a:p>
          <a:p>
            <a:pPr lvl="3"/>
            <a:r>
              <a:rPr lang="zh-CN" altLang="en-US" sz="1800" dirty="0"/>
              <a:t>信号源（周期方波）</a:t>
            </a:r>
            <a:endParaRPr lang="en-US" altLang="zh-CN" sz="1800" dirty="0"/>
          </a:p>
          <a:p>
            <a:pPr lvl="3"/>
            <a:r>
              <a:rPr lang="zh-CN" altLang="en-US" sz="1800" dirty="0"/>
              <a:t>电源</a:t>
            </a:r>
            <a:endParaRPr lang="en-US" altLang="zh-CN" sz="1800" dirty="0"/>
          </a:p>
          <a:p>
            <a:pPr lvl="3"/>
            <a:r>
              <a:rPr lang="zh-CN" altLang="en-US" sz="1800" dirty="0"/>
              <a:t>接地</a:t>
            </a:r>
            <a:endParaRPr lang="en-US" altLang="zh-CN" sz="1800" dirty="0"/>
          </a:p>
          <a:p>
            <a:pPr lvl="2"/>
            <a:r>
              <a:rPr lang="zh-CN" altLang="en-US" sz="2000" dirty="0"/>
              <a:t>连线</a:t>
            </a:r>
            <a:endParaRPr lang="en-US" altLang="zh-CN" sz="2000" dirty="0"/>
          </a:p>
          <a:p>
            <a:pPr lvl="2"/>
            <a:r>
              <a:rPr lang="zh-CN" altLang="en-US" sz="2000" dirty="0"/>
              <a:t>利用虚拟仪表分析电路</a:t>
            </a:r>
            <a:endParaRPr lang="en-US" altLang="zh-CN" sz="2000" dirty="0"/>
          </a:p>
          <a:p>
            <a:pPr lvl="3"/>
            <a:r>
              <a:rPr lang="zh-CN" altLang="en-US" sz="1800" dirty="0"/>
              <a:t>电压表</a:t>
            </a:r>
            <a:endParaRPr lang="en-US" altLang="zh-CN" sz="1800" dirty="0"/>
          </a:p>
          <a:p>
            <a:pPr lvl="3"/>
            <a:r>
              <a:rPr lang="zh-CN" altLang="en-US" sz="1800" dirty="0"/>
              <a:t>逻辑分析仪</a:t>
            </a:r>
            <a:endParaRPr lang="en-US" altLang="zh-CN" sz="1800" dirty="0"/>
          </a:p>
          <a:p>
            <a:pPr lvl="3"/>
            <a:r>
              <a:rPr lang="zh-CN" altLang="en-US" sz="1800" dirty="0"/>
              <a:t>示波器</a:t>
            </a:r>
            <a:endParaRPr lang="en-US" altLang="zh-CN" sz="1800" dirty="0"/>
          </a:p>
          <a:p>
            <a:pPr lvl="2"/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864" y="2603864"/>
            <a:ext cx="2592288" cy="2804158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12" name="标题 1"/>
          <p:cNvSpPr txBox="1"/>
          <p:nvPr/>
        </p:nvSpPr>
        <p:spPr bwMode="auto">
          <a:xfrm>
            <a:off x="239922" y="794657"/>
            <a:ext cx="8466042" cy="6006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1 </a:t>
            </a:r>
            <a:r>
              <a:rPr kumimoji="1" lang="zh-CN" altLang="en-US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计算机辅助电路仿真技术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656" y="2276872"/>
            <a:ext cx="4896544" cy="301892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2489" y="1783034"/>
            <a:ext cx="45808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n-lt"/>
              </a:rPr>
              <a:t>基于</a:t>
            </a:r>
            <a:r>
              <a:rPr lang="en-US" altLang="zh-CN" sz="2000" dirty="0">
                <a:latin typeface="+mn-lt"/>
              </a:rPr>
              <a:t>74LS197</a:t>
            </a:r>
            <a:r>
              <a:rPr lang="zh-CN" altLang="en-US" sz="2000" dirty="0">
                <a:latin typeface="+mn-lt"/>
              </a:rPr>
              <a:t>的</a:t>
            </a:r>
            <a:r>
              <a:rPr lang="en-US" altLang="zh-CN" sz="2000" dirty="0">
                <a:latin typeface="+mn-lt"/>
              </a:rPr>
              <a:t>16</a:t>
            </a:r>
            <a:r>
              <a:rPr lang="zh-CN" altLang="en-US" sz="2000" dirty="0">
                <a:latin typeface="+mn-lt"/>
              </a:rPr>
              <a:t>进制计数器</a:t>
            </a:r>
            <a:endParaRPr lang="zh-CN" altLang="en-US" sz="2000" dirty="0">
              <a:latin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530" y="2183144"/>
            <a:ext cx="2592288" cy="280415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396235" y="5033093"/>
            <a:ext cx="190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n-lt"/>
              </a:rPr>
              <a:t>MR: </a:t>
            </a:r>
            <a:r>
              <a:rPr lang="zh-CN" altLang="en-US" sz="2000" dirty="0">
                <a:latin typeface="+mn-lt"/>
              </a:rPr>
              <a:t>清零端</a:t>
            </a:r>
            <a:endParaRPr lang="en-US" altLang="zh-CN" sz="2000" dirty="0">
              <a:latin typeface="+mn-lt"/>
            </a:endParaRPr>
          </a:p>
          <a:p>
            <a:r>
              <a:rPr lang="en-US" altLang="zh-CN" sz="2000" dirty="0">
                <a:latin typeface="+mn-lt"/>
              </a:rPr>
              <a:t>PL</a:t>
            </a:r>
            <a:r>
              <a:rPr lang="zh-CN" altLang="en-US" sz="2000" dirty="0">
                <a:latin typeface="+mn-lt"/>
              </a:rPr>
              <a:t>：置数端</a:t>
            </a:r>
            <a:endParaRPr lang="zh-CN" altLang="en-US" sz="2000" dirty="0">
              <a:latin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64B019-0E79-4B88-9F29-A92EBDFFB05A}" type="slidenum">
              <a:rPr lang="en-US" altLang="zh-CN" smtClean="0"/>
            </a:fld>
            <a:endParaRPr lang="en-US" altLang="zh-CN"/>
          </a:p>
        </p:txBody>
      </p:sp>
      <p:sp>
        <p:nvSpPr>
          <p:cNvPr id="6" name="标题 1"/>
          <p:cNvSpPr txBox="1"/>
          <p:nvPr/>
        </p:nvSpPr>
        <p:spPr>
          <a:xfrm>
            <a:off x="163776" y="628413"/>
            <a:ext cx="8466042" cy="60060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1 </a:t>
            </a:r>
            <a:r>
              <a:rPr kumimoji="1" lang="zh-CN" altLang="en-US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计算机辅助电路仿真技术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C02A2A-6DB3-4403-9570-03352F0E6CA5}" type="slidenum">
              <a:rPr lang="zh-CN" altLang="en-GB" smtClean="0"/>
            </a:fld>
            <a:endParaRPr lang="en-GB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693" y="1736347"/>
            <a:ext cx="5685013" cy="32845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36240" y="5020852"/>
            <a:ext cx="635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高电平</a:t>
            </a:r>
            <a:endParaRPr lang="zh-CN" altLang="en-US" sz="1050" dirty="0"/>
          </a:p>
        </p:txBody>
      </p:sp>
      <p:sp>
        <p:nvSpPr>
          <p:cNvPr id="6" name="文本框 5"/>
          <p:cNvSpPr txBox="1"/>
          <p:nvPr/>
        </p:nvSpPr>
        <p:spPr>
          <a:xfrm>
            <a:off x="3439160" y="5020852"/>
            <a:ext cx="635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高电平</a:t>
            </a:r>
            <a:endParaRPr lang="zh-CN" alt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64B019-0E79-4B88-9F29-A92EBDFFB05A}" type="slidenum">
              <a:rPr lang="en-US" altLang="zh-CN" smtClean="0"/>
            </a:fld>
            <a:endParaRPr lang="en-US" altLang="zh-CN"/>
          </a:p>
        </p:txBody>
      </p:sp>
      <p:sp>
        <p:nvSpPr>
          <p:cNvPr id="4" name="标题 1"/>
          <p:cNvSpPr txBox="1"/>
          <p:nvPr/>
        </p:nvSpPr>
        <p:spPr>
          <a:xfrm>
            <a:off x="184071" y="279196"/>
            <a:ext cx="8466042" cy="60060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1 </a:t>
            </a:r>
            <a:r>
              <a:rPr kumimoji="1" lang="zh-CN" altLang="en-US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计算机辅助电路仿真技术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85" y="1186485"/>
            <a:ext cx="7867015" cy="48761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4FC249-0138-4740-AD7C-C31857BF085C}" type="slidenum">
              <a:rPr lang="zh-CN" altLang="en-GB" smtClean="0"/>
            </a:fld>
            <a:endParaRPr lang="en-GB" altLang="zh-CN"/>
          </a:p>
        </p:txBody>
      </p:sp>
      <p:pic>
        <p:nvPicPr>
          <p:cNvPr id="1026" name="Picture 2" descr="在这里插入图片描述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2425"/>
            <a:ext cx="9144000" cy="615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4FC249-0138-4740-AD7C-C31857BF085C}" type="slidenum">
              <a:rPr lang="zh-CN" altLang="en-GB" smtClean="0"/>
            </a:fld>
            <a:endParaRPr lang="en-GB" altLang="zh-CN"/>
          </a:p>
        </p:txBody>
      </p:sp>
      <p:pic>
        <p:nvPicPr>
          <p:cNvPr id="2050" name="Picture 2" descr="在这里插入图片描述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0"/>
            <a:ext cx="7942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4FC249-0138-4740-AD7C-C31857BF085C}" type="slidenum">
              <a:rPr lang="zh-CN" altLang="en-GB" smtClean="0"/>
            </a:fld>
            <a:endParaRPr lang="en-GB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298" y="4763"/>
            <a:ext cx="8601403" cy="68532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4FC249-0138-4740-AD7C-C31857BF085C}" type="slidenum">
              <a:rPr lang="zh-CN" altLang="en-GB" smtClean="0"/>
            </a:fld>
            <a:endParaRPr lang="en-GB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696" y="0"/>
            <a:ext cx="860737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4FC249-0138-4740-AD7C-C31857BF085C}" type="slidenum">
              <a:rPr lang="zh-CN" altLang="en-GB" smtClean="0"/>
            </a:fld>
            <a:endParaRPr lang="en-GB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308" y="0"/>
            <a:ext cx="86073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4FC249-0138-4740-AD7C-C31857BF085C}" type="slidenum">
              <a:rPr lang="zh-CN" altLang="en-GB" smtClean="0"/>
            </a:fld>
            <a:endParaRPr lang="en-GB" altLang="zh-CN"/>
          </a:p>
        </p:txBody>
      </p:sp>
      <p:pic>
        <p:nvPicPr>
          <p:cNvPr id="3074" name="Picture 2" descr="在这里插入图片描述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71" y="1"/>
            <a:ext cx="8626920" cy="6873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C02A2A-6DB3-4403-9570-03352F0E6CA5}" type="slidenum">
              <a:rPr lang="zh-CN" altLang="en-GB" smtClean="0"/>
            </a:fld>
            <a:endParaRPr lang="en-GB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42950"/>
            <a:ext cx="9144000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 descr="屏幕剪辑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53" y="731520"/>
            <a:ext cx="8789297" cy="4872062"/>
          </a:xfrm>
        </p:spPr>
      </p:pic>
      <p:sp>
        <p:nvSpPr>
          <p:cNvPr id="3" name="矩形 2"/>
          <p:cNvSpPr/>
          <p:nvPr/>
        </p:nvSpPr>
        <p:spPr>
          <a:xfrm>
            <a:off x="7148014" y="1127055"/>
            <a:ext cx="1913336" cy="19165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72053" y="2057083"/>
            <a:ext cx="1367336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72053" y="1139576"/>
            <a:ext cx="1367336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/>
          <p:cNvSpPr/>
          <p:nvPr/>
        </p:nvSpPr>
        <p:spPr>
          <a:xfrm rot="2632012">
            <a:off x="77020" y="776485"/>
            <a:ext cx="390067" cy="334929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/>
          <p:cNvSpPr/>
          <p:nvPr/>
        </p:nvSpPr>
        <p:spPr>
          <a:xfrm rot="2632012">
            <a:off x="48626" y="1686364"/>
            <a:ext cx="390067" cy="334929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/>
          <p:cNvSpPr/>
          <p:nvPr/>
        </p:nvSpPr>
        <p:spPr>
          <a:xfrm rot="2632012">
            <a:off x="6943850" y="816521"/>
            <a:ext cx="390067" cy="334929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720602" y="1266938"/>
            <a:ext cx="2455158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屏幕剪辑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1056593"/>
            <a:ext cx="8371659" cy="4945222"/>
          </a:xfrm>
        </p:spPr>
      </p:pic>
      <p:sp>
        <p:nvSpPr>
          <p:cNvPr id="5" name="矩形 4"/>
          <p:cNvSpPr/>
          <p:nvPr/>
        </p:nvSpPr>
        <p:spPr>
          <a:xfrm>
            <a:off x="546373" y="3174275"/>
            <a:ext cx="1197518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80851" y="3907973"/>
            <a:ext cx="197576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05394" y="1563326"/>
            <a:ext cx="901338" cy="8188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/>
          <p:cNvSpPr/>
          <p:nvPr/>
        </p:nvSpPr>
        <p:spPr>
          <a:xfrm rot="2632012">
            <a:off x="26734" y="3517424"/>
            <a:ext cx="390067" cy="334929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/>
          <p:cNvSpPr/>
          <p:nvPr/>
        </p:nvSpPr>
        <p:spPr>
          <a:xfrm rot="2632012">
            <a:off x="355541" y="2809631"/>
            <a:ext cx="390067" cy="334929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351293" y="3519788"/>
            <a:ext cx="368027" cy="330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屏幕剪辑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02" y="1249560"/>
            <a:ext cx="7395908" cy="4358879"/>
          </a:xfrm>
        </p:spPr>
      </p:pic>
      <p:sp>
        <p:nvSpPr>
          <p:cNvPr id="5" name="矩形 4"/>
          <p:cNvSpPr/>
          <p:nvPr/>
        </p:nvSpPr>
        <p:spPr>
          <a:xfrm>
            <a:off x="5544153" y="2376229"/>
            <a:ext cx="954618" cy="7066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84930" y="3720239"/>
            <a:ext cx="197576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73160" y="2474976"/>
            <a:ext cx="901338" cy="2545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/>
          <p:cNvSpPr/>
          <p:nvPr/>
        </p:nvSpPr>
        <p:spPr>
          <a:xfrm rot="2632012">
            <a:off x="535312" y="3417233"/>
            <a:ext cx="311980" cy="277604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箭头: 右 8"/>
          <p:cNvSpPr/>
          <p:nvPr/>
        </p:nvSpPr>
        <p:spPr>
          <a:xfrm rot="2632012">
            <a:off x="749616" y="2315952"/>
            <a:ext cx="287541" cy="261750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673176" y="3302725"/>
            <a:ext cx="599608" cy="5194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75584" y="5476240"/>
            <a:ext cx="235336" cy="1321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屏幕剪辑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827546"/>
            <a:ext cx="8254093" cy="4936271"/>
          </a:xfrm>
        </p:spPr>
      </p:pic>
      <p:sp>
        <p:nvSpPr>
          <p:cNvPr id="7" name="矩形 6"/>
          <p:cNvSpPr/>
          <p:nvPr/>
        </p:nvSpPr>
        <p:spPr>
          <a:xfrm>
            <a:off x="261257" y="2547803"/>
            <a:ext cx="197576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1302" y="2625089"/>
            <a:ext cx="901338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/>
          <p:cNvSpPr/>
          <p:nvPr/>
        </p:nvSpPr>
        <p:spPr>
          <a:xfrm rot="2632012">
            <a:off x="111639" y="2244797"/>
            <a:ext cx="311980" cy="277604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/>
          <p:cNvSpPr/>
          <p:nvPr/>
        </p:nvSpPr>
        <p:spPr>
          <a:xfrm rot="2632012">
            <a:off x="421202" y="2300229"/>
            <a:ext cx="287541" cy="261750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963244" y="3199161"/>
            <a:ext cx="288716" cy="2298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323502" y="3717321"/>
            <a:ext cx="416138" cy="1993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屏幕剪辑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949" y="1520685"/>
            <a:ext cx="5328029" cy="4093055"/>
          </a:xfrm>
        </p:spPr>
      </p:pic>
      <p:sp>
        <p:nvSpPr>
          <p:cNvPr id="5" name="矩形 4"/>
          <p:cNvSpPr/>
          <p:nvPr/>
        </p:nvSpPr>
        <p:spPr>
          <a:xfrm>
            <a:off x="6689402" y="2591523"/>
            <a:ext cx="197576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49955" y="2414085"/>
            <a:ext cx="901338" cy="1774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24807" y="3747081"/>
            <a:ext cx="901338" cy="9294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/>
          <p:cNvSpPr/>
          <p:nvPr/>
        </p:nvSpPr>
        <p:spPr>
          <a:xfrm rot="2632012">
            <a:off x="1086949" y="2163746"/>
            <a:ext cx="311980" cy="277604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箭头: 右 8"/>
          <p:cNvSpPr/>
          <p:nvPr/>
        </p:nvSpPr>
        <p:spPr>
          <a:xfrm rot="2632012">
            <a:off x="6418654" y="2271731"/>
            <a:ext cx="311980" cy="277604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箭头: 右 9"/>
          <p:cNvSpPr/>
          <p:nvPr/>
        </p:nvSpPr>
        <p:spPr>
          <a:xfrm rot="2632012">
            <a:off x="5660168" y="3513412"/>
            <a:ext cx="311980" cy="277604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屏幕剪辑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079" y="1628180"/>
            <a:ext cx="6134094" cy="4003584"/>
          </a:xfrm>
        </p:spPr>
      </p:pic>
      <p:sp>
        <p:nvSpPr>
          <p:cNvPr id="5" name="箭头: 右 4"/>
          <p:cNvSpPr/>
          <p:nvPr/>
        </p:nvSpPr>
        <p:spPr>
          <a:xfrm rot="2632012">
            <a:off x="6165403" y="1993382"/>
            <a:ext cx="311980" cy="277604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431255" y="2212990"/>
            <a:ext cx="197576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277597" y="2212990"/>
            <a:ext cx="197576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431255" y="4085043"/>
            <a:ext cx="197576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277597" y="4085042"/>
            <a:ext cx="197576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553"/>
            <a:ext cx="9144000" cy="486489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761462" y="1079134"/>
            <a:ext cx="408457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768114" y="4572142"/>
            <a:ext cx="1937998" cy="254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892628"/>
            <a:ext cx="4136571" cy="696685"/>
          </a:xfrm>
        </p:spPr>
        <p:txBody>
          <a:bodyPr/>
          <a:lstStyle/>
          <a:p>
            <a:r>
              <a:rPr lang="zh-CN" alt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练习：</a:t>
            </a:r>
            <a:endParaRPr lang="zh-CN" altLang="en-US" sz="32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9844" y="1240971"/>
            <a:ext cx="7957456" cy="4376058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endParaRPr lang="en-US" altLang="zh-CN" sz="2400" b="1" kern="1200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2400" b="1" kern="1200" dirty="0">
                <a:ea typeface="宋体" panose="02010600030101010101" pitchFamily="2" charset="-122"/>
              </a:rPr>
              <a:t>在</a:t>
            </a:r>
            <a:r>
              <a:rPr lang="en-US" altLang="zh-CN" sz="2400" b="1" kern="1200" dirty="0">
                <a:ea typeface="宋体" panose="02010600030101010101" pitchFamily="2" charset="-122"/>
              </a:rPr>
              <a:t>Proteus</a:t>
            </a:r>
            <a:r>
              <a:rPr lang="zh-CN" altLang="en-US" sz="2400" b="1" kern="1200" dirty="0">
                <a:ea typeface="宋体" panose="02010600030101010101" pitchFamily="2" charset="-122"/>
              </a:rPr>
              <a:t>环境下完成基于</a:t>
            </a:r>
            <a:r>
              <a:rPr lang="en-US" altLang="zh-CN" sz="2400" b="1" kern="1200" dirty="0">
                <a:ea typeface="宋体" panose="02010600030101010101" pitchFamily="2" charset="-122"/>
              </a:rPr>
              <a:t>74LS197</a:t>
            </a:r>
            <a:r>
              <a:rPr lang="zh-CN" altLang="en-US" sz="2400" b="1" kern="1200" dirty="0">
                <a:ea typeface="宋体" panose="02010600030101010101" pitchFamily="2" charset="-122"/>
              </a:rPr>
              <a:t>的十六进制计数器的设计，观察并记录</a:t>
            </a:r>
            <a:r>
              <a:rPr lang="en-US" altLang="zh-CN" sz="2400" b="1" kern="1200" dirty="0">
                <a:ea typeface="宋体" panose="02010600030101010101" pitchFamily="2" charset="-122"/>
              </a:rPr>
              <a:t>CLK1</a:t>
            </a:r>
            <a:r>
              <a:rPr lang="zh-CN" altLang="en-US" sz="2400" b="1" kern="1200" dirty="0">
                <a:ea typeface="宋体" panose="02010600030101010101" pitchFamily="2" charset="-122"/>
              </a:rPr>
              <a:t>，</a:t>
            </a:r>
            <a:r>
              <a:rPr lang="en-US" altLang="zh-CN" sz="2400" b="1" kern="1200" dirty="0">
                <a:ea typeface="宋体" panose="02010600030101010101" pitchFamily="2" charset="-122"/>
              </a:rPr>
              <a:t>Q0</a:t>
            </a:r>
            <a:r>
              <a:rPr lang="zh-CN" altLang="en-US" sz="2400" b="1" kern="1200" dirty="0">
                <a:ea typeface="宋体" panose="02010600030101010101" pitchFamily="2" charset="-122"/>
              </a:rPr>
              <a:t>、</a:t>
            </a:r>
            <a:r>
              <a:rPr lang="en-US" altLang="zh-CN" sz="2400" b="1" kern="1200" dirty="0">
                <a:ea typeface="宋体" panose="02010600030101010101" pitchFamily="2" charset="-122"/>
              </a:rPr>
              <a:t>Q1</a:t>
            </a:r>
            <a:r>
              <a:rPr lang="zh-CN" altLang="en-US" sz="2400" b="1" kern="1200" dirty="0">
                <a:ea typeface="宋体" panose="02010600030101010101" pitchFamily="2" charset="-122"/>
              </a:rPr>
              <a:t>、</a:t>
            </a:r>
            <a:r>
              <a:rPr lang="en-US" altLang="zh-CN" sz="2400" b="1" kern="1200" dirty="0">
                <a:ea typeface="宋体" panose="02010600030101010101" pitchFamily="2" charset="-122"/>
              </a:rPr>
              <a:t>Q2</a:t>
            </a:r>
            <a:r>
              <a:rPr lang="zh-CN" altLang="en-US" sz="2400" b="1" kern="1200" dirty="0">
                <a:ea typeface="宋体" panose="02010600030101010101" pitchFamily="2" charset="-122"/>
              </a:rPr>
              <a:t>和</a:t>
            </a:r>
            <a:r>
              <a:rPr lang="en-US" altLang="zh-CN" sz="2400" b="1" kern="1200" dirty="0">
                <a:ea typeface="宋体" panose="02010600030101010101" pitchFamily="2" charset="-122"/>
              </a:rPr>
              <a:t>Q3</a:t>
            </a:r>
            <a:r>
              <a:rPr lang="zh-CN" altLang="en-US" sz="2400" b="1" kern="1200" dirty="0">
                <a:ea typeface="宋体" panose="02010600030101010101" pitchFamily="2" charset="-122"/>
              </a:rPr>
              <a:t>的波形，分析波形是否符合十六进制计数器的逻辑关系。</a:t>
            </a:r>
            <a:endParaRPr lang="en-US" altLang="zh-CN" sz="2400" b="1" kern="1200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endParaRPr lang="en-US" altLang="zh-CN" sz="2400" b="1" kern="1200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2400" b="1" kern="1200" dirty="0">
                <a:ea typeface="宋体" panose="02010600030101010101" pitchFamily="2" charset="-122"/>
              </a:rPr>
              <a:t>使用</a:t>
            </a:r>
            <a:r>
              <a:rPr lang="en-US" altLang="zh-CN" sz="2400" b="1" kern="1200" dirty="0">
                <a:ea typeface="宋体" panose="02010600030101010101" pitchFamily="2" charset="-122"/>
              </a:rPr>
              <a:t>Proteus</a:t>
            </a:r>
            <a:r>
              <a:rPr lang="zh-CN" altLang="en-US" sz="2400" b="1" kern="1200" dirty="0">
                <a:ea typeface="宋体" panose="02010600030101010101" pitchFamily="2" charset="-122"/>
              </a:rPr>
              <a:t>仿真软件动态测试</a:t>
            </a:r>
            <a:r>
              <a:rPr lang="en-US" altLang="zh-CN" sz="2400" b="1" kern="1200" dirty="0">
                <a:ea typeface="宋体" panose="02010600030101010101" pitchFamily="2" charset="-122"/>
              </a:rPr>
              <a:t>74LS00(</a:t>
            </a:r>
            <a:r>
              <a:rPr lang="zh-CN" altLang="en-US" sz="2400" b="1" kern="1200" dirty="0">
                <a:ea typeface="宋体" panose="02010600030101010101" pitchFamily="2" charset="-122"/>
              </a:rPr>
              <a:t>与非门</a:t>
            </a:r>
            <a:r>
              <a:rPr lang="en-US" altLang="zh-CN" sz="2400" b="1" kern="1200" dirty="0">
                <a:ea typeface="宋体" panose="02010600030101010101" pitchFamily="2" charset="-122"/>
              </a:rPr>
              <a:t>)</a:t>
            </a:r>
            <a:r>
              <a:rPr lang="zh-CN" altLang="en-US" sz="2400" b="1" kern="1200" dirty="0">
                <a:ea typeface="宋体" panose="02010600030101010101" pitchFamily="2" charset="-122"/>
              </a:rPr>
              <a:t>、</a:t>
            </a:r>
            <a:r>
              <a:rPr lang="en-US" altLang="zh-CN" sz="2400" b="1" kern="1200" dirty="0">
                <a:ea typeface="宋体" panose="02010600030101010101" pitchFamily="2" charset="-122"/>
              </a:rPr>
              <a:t>74LS08 (</a:t>
            </a:r>
            <a:r>
              <a:rPr lang="zh-CN" altLang="en-US" sz="2400" b="1" kern="1200" dirty="0">
                <a:ea typeface="宋体" panose="02010600030101010101" pitchFamily="2" charset="-122"/>
              </a:rPr>
              <a:t>与门</a:t>
            </a:r>
            <a:r>
              <a:rPr lang="en-US" altLang="zh-CN" sz="2400" b="1" kern="1200" dirty="0">
                <a:ea typeface="宋体" panose="02010600030101010101" pitchFamily="2" charset="-122"/>
              </a:rPr>
              <a:t>) </a:t>
            </a:r>
            <a:r>
              <a:rPr lang="zh-CN" altLang="en-US" sz="2400" b="1" kern="1200" dirty="0">
                <a:ea typeface="宋体" panose="02010600030101010101" pitchFamily="2" charset="-122"/>
              </a:rPr>
              <a:t>、</a:t>
            </a:r>
            <a:r>
              <a:rPr lang="en-US" altLang="zh-CN" sz="2400" b="1" kern="1200" dirty="0">
                <a:ea typeface="宋体" panose="02010600030101010101" pitchFamily="2" charset="-122"/>
              </a:rPr>
              <a:t>74LS20 (</a:t>
            </a:r>
            <a:r>
              <a:rPr lang="zh-CN" altLang="en-US" sz="2400" b="1" kern="1200" dirty="0">
                <a:ea typeface="宋体" panose="02010600030101010101" pitchFamily="2" charset="-122"/>
              </a:rPr>
              <a:t>与非门</a:t>
            </a:r>
            <a:r>
              <a:rPr lang="en-US" altLang="zh-CN" sz="2400" b="1" kern="1200" dirty="0">
                <a:ea typeface="宋体" panose="02010600030101010101" pitchFamily="2" charset="-122"/>
              </a:rPr>
              <a:t>) </a:t>
            </a:r>
            <a:r>
              <a:rPr lang="zh-CN" altLang="en-US" sz="2400" b="1" kern="1200" dirty="0">
                <a:ea typeface="宋体" panose="02010600030101010101" pitchFamily="2" charset="-122"/>
              </a:rPr>
              <a:t>、</a:t>
            </a:r>
            <a:r>
              <a:rPr lang="en-US" altLang="zh-CN" sz="2400" b="1" kern="1200" dirty="0">
                <a:ea typeface="宋体" panose="02010600030101010101" pitchFamily="2" charset="-122"/>
              </a:rPr>
              <a:t>74LS86(</a:t>
            </a:r>
            <a:r>
              <a:rPr lang="zh-CN" altLang="en-US" sz="2400" b="1" kern="1200" dirty="0">
                <a:ea typeface="宋体" panose="02010600030101010101" pitchFamily="2" charset="-122"/>
              </a:rPr>
              <a:t>异或门</a:t>
            </a:r>
            <a:r>
              <a:rPr lang="en-US" altLang="zh-CN" sz="2400" b="1" kern="1200" dirty="0">
                <a:ea typeface="宋体" panose="02010600030101010101" pitchFamily="2" charset="-122"/>
              </a:rPr>
              <a:t>)</a:t>
            </a:r>
            <a:r>
              <a:rPr lang="zh-CN" altLang="en-US" sz="2400" b="1" kern="1200" dirty="0">
                <a:ea typeface="宋体" panose="02010600030101010101" pitchFamily="2" charset="-122"/>
              </a:rPr>
              <a:t>，利用虚拟逻辑分析仪和虚拟示波器观察门电路芯片的输入、输出引脚的波形，并将仿真结果与各芯片的真值表进行对照。</a:t>
            </a:r>
            <a:endParaRPr lang="en-US" altLang="zh-CN" sz="2400" b="1" kern="1200" dirty="0">
              <a:ea typeface="宋体" panose="02010600030101010101" pitchFamily="2" charset="-122"/>
            </a:endParaRPr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6" name="标题 1"/>
          <p:cNvSpPr txBox="1"/>
          <p:nvPr/>
        </p:nvSpPr>
        <p:spPr bwMode="auto">
          <a:xfrm>
            <a:off x="-7842" y="248479"/>
            <a:ext cx="8466042" cy="6006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1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计算机辅助电路仿真技术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4FC249-0138-4740-AD7C-C31857BF085C}" type="slidenum">
              <a:rPr lang="zh-CN" altLang="en-GB" smtClean="0"/>
            </a:fld>
            <a:endParaRPr lang="en-GB" altLang="zh-CN"/>
          </a:p>
        </p:txBody>
      </p:sp>
      <p:pic>
        <p:nvPicPr>
          <p:cNvPr id="18" name="内容占位符 17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18" y="1014855"/>
            <a:ext cx="6749701" cy="5233545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11540" y="66143"/>
            <a:ext cx="5665875" cy="75515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53234"/>
            <a:ext cx="7881257" cy="664029"/>
          </a:xfrm>
        </p:spPr>
        <p:txBody>
          <a:bodyPr/>
          <a:lstStyle/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39939" y="235223"/>
            <a:ext cx="1419861" cy="773757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zh-CN" altLang="en-US" b="1" dirty="0"/>
              <a:t>实验箱</a:t>
            </a:r>
            <a:endParaRPr lang="zh-CN" altLang="en-US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7817715" y="1279438"/>
            <a:ext cx="367575" cy="5565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970045" y="3298572"/>
            <a:ext cx="568722" cy="8383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342535" y="3302838"/>
            <a:ext cx="568721" cy="8383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055690" y="4267978"/>
            <a:ext cx="4561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rgbClr val="FF0000"/>
                </a:solidFill>
              </a:rPr>
              <a:t>VCC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sp>
        <p:nvSpPr>
          <p:cNvPr id="14" name="箭头: 右 13"/>
          <p:cNvSpPr/>
          <p:nvPr/>
        </p:nvSpPr>
        <p:spPr>
          <a:xfrm rot="18656925">
            <a:off x="4266169" y="4141131"/>
            <a:ext cx="178156" cy="190411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634496" y="4267978"/>
            <a:ext cx="5320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rgbClr val="FF0000"/>
                </a:solidFill>
              </a:rPr>
              <a:t>GND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sp>
        <p:nvSpPr>
          <p:cNvPr id="16" name="箭头: 右 15"/>
          <p:cNvSpPr/>
          <p:nvPr/>
        </p:nvSpPr>
        <p:spPr>
          <a:xfrm rot="13707795">
            <a:off x="5545418" y="4169922"/>
            <a:ext cx="178156" cy="190411"/>
          </a:xfrm>
          <a:prstGeom prst="rightArrow">
            <a:avLst>
              <a:gd name="adj1" fmla="val 27653"/>
              <a:gd name="adj2" fmla="val 602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5010"/>
            <a:ext cx="4119895" cy="4089087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4FC249-0138-4740-AD7C-C31857BF085C}" type="slidenum">
              <a:rPr lang="zh-CN" altLang="en-GB" smtClean="0"/>
            </a:fld>
            <a:endParaRPr lang="en-GB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" r="14670" b="3792"/>
          <a:stretch>
            <a:fillRect/>
          </a:stretch>
        </p:blipFill>
        <p:spPr>
          <a:xfrm>
            <a:off x="4215287" y="2159112"/>
            <a:ext cx="4892459" cy="312450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609601" y="817263"/>
            <a:ext cx="2438399" cy="783974"/>
          </a:xfrm>
        </p:spPr>
        <p:txBody>
          <a:bodyPr/>
          <a:lstStyle/>
          <a:p>
            <a:pPr>
              <a:buClr>
                <a:schemeClr val="hlink"/>
              </a:buClr>
              <a:buSzPct val="110000"/>
            </a:pPr>
            <a:r>
              <a:rPr lang="zh-CN" alt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示波器</a:t>
            </a:r>
            <a:endParaRPr lang="zh-CN" altLang="en-US" sz="32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914399" y="1807028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示波器是利用示波管内电子射线的偏转，在荧光屏上显示出电信号波形的仪器。</a:t>
            </a:r>
            <a:endParaRPr lang="en-US" altLang="zh-CN" sz="2400" dirty="0"/>
          </a:p>
          <a:p>
            <a:pPr lvl="1" eaLnBrk="1" hangingPunct="1"/>
            <a:r>
              <a:rPr lang="zh-CN" altLang="en-US" sz="2000" dirty="0"/>
              <a:t>模拟示波器</a:t>
            </a:r>
            <a:endParaRPr lang="en-US" altLang="zh-CN" sz="2000" dirty="0"/>
          </a:p>
          <a:p>
            <a:pPr lvl="1" eaLnBrk="1" hangingPunct="1"/>
            <a:r>
              <a:rPr lang="zh-CN" altLang="en-US" sz="2000" dirty="0"/>
              <a:t>数字示波器</a:t>
            </a:r>
            <a:endParaRPr lang="en-US" altLang="zh-CN" sz="2000" dirty="0"/>
          </a:p>
          <a:p>
            <a:pPr eaLnBrk="1" hangingPunct="1"/>
            <a:r>
              <a:rPr lang="zh-CN" altLang="en-US" sz="2400" dirty="0"/>
              <a:t>示波器的特定</a:t>
            </a:r>
            <a:endParaRPr lang="en-US" altLang="zh-CN" sz="2400" dirty="0"/>
          </a:p>
          <a:p>
            <a:pPr lvl="1" eaLnBrk="1" hangingPunct="1"/>
            <a:r>
              <a:rPr lang="zh-CN" altLang="en-US" sz="2000" dirty="0"/>
              <a:t>能显示电信号的波形；</a:t>
            </a:r>
            <a:endParaRPr lang="zh-CN" altLang="en-US" sz="2000" dirty="0"/>
          </a:p>
          <a:p>
            <a:pPr lvl="1" eaLnBrk="1" hangingPunct="1"/>
            <a:r>
              <a:rPr lang="zh-CN" altLang="en-US" sz="2000" dirty="0"/>
              <a:t>能测量电信号的幅度、周期、频率和相位等；</a:t>
            </a:r>
            <a:endParaRPr lang="zh-CN" altLang="en-US" sz="2000" dirty="0"/>
          </a:p>
          <a:p>
            <a:pPr lvl="1" eaLnBrk="1" hangingPunct="1"/>
            <a:r>
              <a:rPr lang="zh-CN" altLang="en-US" sz="2000" dirty="0"/>
              <a:t>测量灵敏度高、过载能力强；</a:t>
            </a:r>
            <a:endParaRPr lang="zh-CN" altLang="en-US" sz="2000" dirty="0"/>
          </a:p>
          <a:p>
            <a:pPr lvl="1" eaLnBrk="1" hangingPunct="1"/>
            <a:r>
              <a:rPr lang="zh-CN" altLang="en-US" sz="2000" dirty="0"/>
              <a:t>输入阻抗高</a:t>
            </a:r>
            <a:endParaRPr lang="zh-CN" altLang="en-US" sz="2000" dirty="0"/>
          </a:p>
          <a:p>
            <a:pPr eaLnBrk="1" hangingPunct="1"/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4" name="标题 1"/>
          <p:cNvSpPr txBox="1"/>
          <p:nvPr/>
        </p:nvSpPr>
        <p:spPr bwMode="auto">
          <a:xfrm>
            <a:off x="0" y="153234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581819" y="1017552"/>
            <a:ext cx="7538924" cy="550597"/>
          </a:xfrm>
        </p:spPr>
        <p:txBody>
          <a:bodyPr/>
          <a:lstStyle/>
          <a:p>
            <a:pPr>
              <a:buClr>
                <a:schemeClr val="hlink"/>
              </a:buClr>
              <a:buSzPct val="110000"/>
            </a:pPr>
            <a:r>
              <a:rPr lang="zh-CN" alt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模拟示波器工作原理</a:t>
            </a:r>
            <a:endParaRPr lang="zh-CN" altLang="en-US" sz="32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781051" y="1614981"/>
            <a:ext cx="8496300" cy="4389438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示波器将人眼无法直接观测的交变电信号转换成图像，显示在荧光屏上以便测量的电子测量仪器。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模拟示波器由示波管和电源系统、同步系统、</a:t>
            </a:r>
            <a:r>
              <a:rPr lang="en-US" altLang="zh-CN" sz="2400" dirty="0"/>
              <a:t>X</a:t>
            </a:r>
            <a:r>
              <a:rPr lang="zh-CN" altLang="en-US" sz="2400" dirty="0"/>
              <a:t>轴偏转系统、</a:t>
            </a:r>
            <a:r>
              <a:rPr lang="en-US" altLang="zh-CN" sz="2400" dirty="0"/>
              <a:t>Y</a:t>
            </a:r>
            <a:r>
              <a:rPr lang="zh-CN" altLang="en-US" sz="2400" dirty="0"/>
              <a:t>轴偏转系统、延迟扫描系统、标准信号源组成。</a:t>
            </a:r>
            <a:endParaRPr lang="en-US" altLang="zh-CN" sz="2400" dirty="0"/>
          </a:p>
        </p:txBody>
      </p:sp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395" y="3309863"/>
            <a:ext cx="6265862" cy="322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3" name="标题 1"/>
          <p:cNvSpPr txBox="1"/>
          <p:nvPr/>
        </p:nvSpPr>
        <p:spPr bwMode="auto">
          <a:xfrm>
            <a:off x="0" y="153234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2"/>
          <p:cNvSpPr>
            <a:spLocks noGrp="1"/>
          </p:cNvSpPr>
          <p:nvPr>
            <p:ph type="title"/>
          </p:nvPr>
        </p:nvSpPr>
        <p:spPr>
          <a:xfrm>
            <a:off x="619352" y="1022351"/>
            <a:ext cx="8105774" cy="531586"/>
          </a:xfrm>
        </p:spPr>
        <p:txBody>
          <a:bodyPr/>
          <a:lstStyle/>
          <a:p>
            <a:r>
              <a:rPr lang="zh-CN" alt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数字存储示波器</a:t>
            </a:r>
            <a:endParaRPr lang="zh-CN" altLang="en-US" sz="32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15295" y="1693412"/>
            <a:ext cx="8105774" cy="2056039"/>
          </a:xfrm>
        </p:spPr>
        <p:txBody>
          <a:bodyPr/>
          <a:lstStyle/>
          <a:p>
            <a:pPr>
              <a:defRPr/>
            </a:pPr>
            <a:r>
              <a:rPr lang="zh-CN" altLang="en-US" sz="2000" dirty="0"/>
              <a:t>信号进入示波器后立刻通过高速</a:t>
            </a:r>
            <a:r>
              <a:rPr lang="en-US" altLang="zh-CN" sz="2000" dirty="0"/>
              <a:t>A/D</a:t>
            </a:r>
            <a:r>
              <a:rPr lang="zh-CN" altLang="en-US" sz="2000" dirty="0"/>
              <a:t>转换器将模拟信号前端快速采样，存储其数字化信号。</a:t>
            </a:r>
            <a:endParaRPr lang="en-US" altLang="zh-CN" sz="2000" dirty="0"/>
          </a:p>
          <a:p>
            <a:pPr>
              <a:defRPr/>
            </a:pPr>
            <a:r>
              <a:rPr lang="zh-CN" altLang="en-US" sz="2000" dirty="0"/>
              <a:t>利用数字信号处理技术对所存储的数据进行实时快速处理，得到信号的波形及其参数，并由示波器显示，实现模拟示波器功能。</a:t>
            </a:r>
            <a:endParaRPr lang="en-US" altLang="zh-CN" sz="2000" dirty="0"/>
          </a:p>
          <a:p>
            <a:pPr>
              <a:defRPr/>
            </a:pPr>
            <a:r>
              <a:rPr lang="zh-CN" altLang="en-US" sz="2000" dirty="0"/>
              <a:t>测量精度高，还可以存储和调用显示特定时刻信号。</a:t>
            </a:r>
            <a:endParaRPr lang="zh-CN" altLang="en-US" sz="2000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zh-CN" altLang="en-US" sz="2000" dirty="0"/>
          </a:p>
        </p:txBody>
      </p:sp>
      <p:pic>
        <p:nvPicPr>
          <p:cNvPr id="17412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970" y="3527425"/>
            <a:ext cx="6448425" cy="311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3" name="标题 1"/>
          <p:cNvSpPr txBox="1"/>
          <p:nvPr/>
        </p:nvSpPr>
        <p:spPr bwMode="auto">
          <a:xfrm>
            <a:off x="-119743" y="207509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653142" y="1708831"/>
            <a:ext cx="8229600" cy="4389437"/>
          </a:xfrm>
        </p:spPr>
        <p:txBody>
          <a:bodyPr/>
          <a:lstStyle/>
          <a:p>
            <a:pPr lvl="1" eaLnBrk="1" hangingPunct="1"/>
            <a:r>
              <a:rPr lang="zh-CN" altLang="en-US" sz="2400" dirty="0"/>
              <a:t>显示波形时，亮度不宜过亮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尽量在屏幕的中心区域进行波形观察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被测信号电压的数值不应超过示波器允许的最大输入电压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调节各种开关、旋钮时，不要过分用力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探头和示波器应配套使用不能互换</a:t>
            </a:r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09599" y="997797"/>
            <a:ext cx="45774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200" dirty="0">
                <a:latin typeface="+mn-lt"/>
                <a:ea typeface="+mn-ea"/>
              </a:rPr>
              <a:t>示波器的使用注意事项</a:t>
            </a:r>
            <a:endParaRPr lang="en-US" altLang="zh-CN" sz="3200" dirty="0">
              <a:latin typeface="+mn-lt"/>
              <a:ea typeface="+mn-ea"/>
            </a:endParaRPr>
          </a:p>
        </p:txBody>
      </p:sp>
      <p:sp>
        <p:nvSpPr>
          <p:cNvPr id="5" name="标题 1"/>
          <p:cNvSpPr txBox="1"/>
          <p:nvPr/>
        </p:nvSpPr>
        <p:spPr bwMode="auto">
          <a:xfrm>
            <a:off x="-119743" y="207509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55867" y="3739014"/>
          <a:ext cx="4932362" cy="2966586"/>
        </p:xfrm>
        <a:graphic>
          <a:graphicData uri="http://schemas.openxmlformats.org/drawingml/2006/table">
            <a:tbl>
              <a:tblPr/>
              <a:tblGrid>
                <a:gridCol w="420687"/>
                <a:gridCol w="2247900"/>
                <a:gridCol w="450850"/>
                <a:gridCol w="1812925"/>
              </a:tblGrid>
              <a:tr h="206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编号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说明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just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编号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说明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09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1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测量菜单软键 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13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电源键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</a:tr>
              <a:tr h="206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2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LCD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14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USB HOST </a:t>
                      </a:r>
                      <a:r>
                        <a:rPr kumimoji="0" lang="zh-CN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接口 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</a:tr>
              <a:tr h="207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逻辑分析仪控制键</a:t>
                      </a:r>
                      <a:r>
                        <a:rPr kumimoji="0" lang="en-US" altLang="zh-CN" sz="1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[1]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15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数字通道输入接口</a:t>
                      </a:r>
                      <a:r>
                        <a:rPr kumimoji="0" lang="en-US" altLang="zh-CN" sz="1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[1]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</a:tr>
              <a:tr h="4773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4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多功能旋钮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16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水平控制区 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</a:tr>
              <a:tr h="207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5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功能菜单键 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17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功能菜单软键 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</a:tr>
              <a:tr h="206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6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信号源</a:t>
                      </a:r>
                      <a:r>
                        <a:rPr kumimoji="0" lang="en-US" altLang="zh-CN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[2]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18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垂直控制区 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</a:tr>
              <a:tr h="207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7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导航旋钮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19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模拟通道输入区 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</a:tr>
              <a:tr h="206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8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全部清除键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20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波形录制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回放控制键 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</a:tr>
              <a:tr h="207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9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波形自动显示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21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触发控制区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</a:tr>
              <a:tr h="206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10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运行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停止控制键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22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外触发输入端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</a:tr>
              <a:tr h="207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11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单次触发控制键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23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探头补偿器输出端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接地端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5EA"/>
                    </a:solidFill>
                  </a:tcPr>
                </a:tc>
              </a:tr>
              <a:tr h="207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12 </a:t>
                      </a:r>
                      <a:endParaRPr kumimoji="0" lang="zh-CN" altLang="zh-CN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内置帮助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打印键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 marL="254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25400" marR="0" lvl="0" indent="0" algn="just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—— </a:t>
                      </a:r>
                      <a:endParaRPr kumimoji="0" lang="zh-CN" altLang="zh-CN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>
                      <a:lvl1pPr marL="1905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70206030603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905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nstantia" panose="02030702060306030303" pitchFamily="18" charset="0"/>
                          <a:ea typeface="宋体" panose="02010600030101010101" pitchFamily="2" charset="-122"/>
                        </a:rPr>
                        <a:t>—— 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7020304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6675" marR="46355" marT="1778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BF5"/>
                    </a:solidFill>
                  </a:tcPr>
                </a:tc>
              </a:tr>
            </a:tbl>
          </a:graphicData>
        </a:graphic>
      </p:graphicFrame>
      <p:pic>
        <p:nvPicPr>
          <p:cNvPr id="2157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867" y="364238"/>
            <a:ext cx="4825495" cy="3727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79" name="矩形 1"/>
          <p:cNvSpPr>
            <a:spLocks noChangeArrowheads="1"/>
          </p:cNvSpPr>
          <p:nvPr/>
        </p:nvSpPr>
        <p:spPr bwMode="auto">
          <a:xfrm>
            <a:off x="255867" y="132219"/>
            <a:ext cx="466986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>
                <a:latin typeface="+mn-lt"/>
                <a:ea typeface="+mn-ea"/>
              </a:rPr>
              <a:t>MSO2000A&amp;DS2000A</a:t>
            </a:r>
            <a:endParaRPr lang="zh-CN" altLang="en-US" sz="3200" dirty="0">
              <a:latin typeface="+mn-lt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en-GB"/>
            </a:defPPr>
            <a:lvl1pPr algn="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 kern="1200"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96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96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96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96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96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31C02A2A-6DB3-4403-9570-03352F0E6CA5}" type="slidenum">
              <a:rPr lang="zh-CN" altLang="en-GB" smtClean="0"/>
            </a:fld>
            <a:endParaRPr lang="en-US" altLang="zh-CN"/>
          </a:p>
        </p:txBody>
      </p:sp>
    </p:spTree>
  </p:cSld>
  <p:clrMapOvr>
    <a:masterClrMapping/>
  </p:clrMapOvr>
  <p:transition advTm="12468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39980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2" y="886108"/>
            <a:ext cx="3287712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矩形 2"/>
          <p:cNvSpPr>
            <a:spLocks noChangeArrowheads="1"/>
          </p:cNvSpPr>
          <p:nvPr/>
        </p:nvSpPr>
        <p:spPr bwMode="auto">
          <a:xfrm>
            <a:off x="3265260" y="1015950"/>
            <a:ext cx="5628368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457200" lvl="1" indent="0">
              <a:spcBef>
                <a:spcPct val="20000"/>
              </a:spcBef>
              <a:buClr>
                <a:schemeClr val="tx1"/>
              </a:buClr>
              <a:buSzPct val="60000"/>
            </a:pPr>
            <a:r>
              <a:rPr lang="en-US" altLang="zh-CN" sz="2200" dirty="0">
                <a:latin typeface="+mn-lt"/>
              </a:rPr>
              <a:t>CH1</a:t>
            </a:r>
            <a:r>
              <a:rPr lang="zh-CN" altLang="zh-CN" sz="2200" dirty="0">
                <a:latin typeface="+mn-lt"/>
              </a:rPr>
              <a:t>、</a:t>
            </a:r>
            <a:r>
              <a:rPr lang="en-US" altLang="zh-CN" sz="2200" dirty="0">
                <a:latin typeface="+mn-lt"/>
              </a:rPr>
              <a:t>CH2</a:t>
            </a:r>
            <a:r>
              <a:rPr lang="zh-CN" altLang="zh-CN" sz="2200" dirty="0">
                <a:latin typeface="+mn-lt"/>
              </a:rPr>
              <a:t>：模拟输入通道。</a:t>
            </a:r>
            <a:r>
              <a:rPr lang="en-US" altLang="zh-CN" sz="2200" dirty="0">
                <a:latin typeface="+mn-lt"/>
              </a:rPr>
              <a:t>2 </a:t>
            </a:r>
            <a:r>
              <a:rPr lang="zh-CN" altLang="zh-CN" sz="2200" dirty="0">
                <a:latin typeface="+mn-lt"/>
              </a:rPr>
              <a:t>个通道标签用不同颜色标识，并且屏幕中的波形和通道输入连接器的颜色也与之对应。按下任一按键打开相应通道菜单，再次按下关闭通道。</a:t>
            </a:r>
            <a:endParaRPr lang="zh-CN" altLang="en-US" sz="2200" dirty="0">
              <a:latin typeface="+mn-lt"/>
            </a:endParaRPr>
          </a:p>
        </p:txBody>
      </p:sp>
      <p:pic>
        <p:nvPicPr>
          <p:cNvPr id="2253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44" y="3597842"/>
            <a:ext cx="7743825" cy="158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45" y="5229225"/>
            <a:ext cx="7743825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45C75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3F64B019-0E79-4B88-9F29-A92EBDFFB05A}" type="slidenum">
              <a:rPr lang="en-US" altLang="zh-CN" smtClean="0"/>
            </a:fld>
            <a:endParaRPr lang="en-US" altLang="zh-CN"/>
          </a:p>
        </p:txBody>
      </p:sp>
      <p:sp>
        <p:nvSpPr>
          <p:cNvPr id="4" name="标题 1"/>
          <p:cNvSpPr txBox="1"/>
          <p:nvPr/>
        </p:nvSpPr>
        <p:spPr bwMode="auto">
          <a:xfrm>
            <a:off x="0" y="174171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advTm="12468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C79A1E-5E89-4860-BB17-B9340206C1F8}" type="slidenum">
              <a:rPr lang="en-US" altLang="zh-CN" smtClean="0"/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" y="0"/>
            <a:ext cx="9140428" cy="6858000"/>
          </a:xfrm>
          <a:prstGeom prst="rect">
            <a:avLst/>
          </a:prstGeom>
        </p:spPr>
      </p:pic>
    </p:spTree>
  </p:cSld>
  <p:clrMapOvr>
    <a:masterClrMapping/>
  </p:clrMapOvr>
  <p:transition advTm="12468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C79A1E-5E89-4860-BB17-B9340206C1F8}" type="slidenum">
              <a:rPr lang="en-US" altLang="zh-CN" smtClean="0"/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" y="0"/>
            <a:ext cx="9140428" cy="6858000"/>
          </a:xfrm>
          <a:prstGeom prst="rect">
            <a:avLst/>
          </a:prstGeom>
        </p:spPr>
      </p:pic>
    </p:spTree>
  </p:cSld>
  <p:clrMapOvr>
    <a:masterClrMapping/>
  </p:clrMapOvr>
  <p:transition advTm="12468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C79A1E-5E89-4860-BB17-B9340206C1F8}" type="slidenum">
              <a:rPr lang="en-US" altLang="zh-CN" smtClean="0"/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245" y="0"/>
            <a:ext cx="5145510" cy="6858000"/>
          </a:xfrm>
          <a:prstGeom prst="rect">
            <a:avLst/>
          </a:prstGeom>
        </p:spPr>
      </p:pic>
    </p:spTree>
  </p:cSld>
  <p:clrMapOvr>
    <a:masterClrMapping/>
  </p:clrMapOvr>
  <p:transition advTm="12468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C79A1E-5E89-4860-BB17-B9340206C1F8}" type="slidenum">
              <a:rPr lang="en-US" altLang="zh-CN" smtClean="0"/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" y="0"/>
            <a:ext cx="914042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468"/>
    </mc:Choice>
    <mc:Fallback>
      <p:transition spd="slow" advTm="12468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726"/>
            <a:ext cx="8988366" cy="6741274"/>
          </a:xfrm>
        </p:spPr>
      </p:pic>
      <p:sp>
        <p:nvSpPr>
          <p:cNvPr id="5" name="矩形 4"/>
          <p:cNvSpPr/>
          <p:nvPr/>
        </p:nvSpPr>
        <p:spPr>
          <a:xfrm>
            <a:off x="7650051" y="3747752"/>
            <a:ext cx="437881" cy="3734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下箭头 5"/>
          <p:cNvSpPr/>
          <p:nvPr/>
        </p:nvSpPr>
        <p:spPr>
          <a:xfrm rot="2688082">
            <a:off x="7990500" y="3318747"/>
            <a:ext cx="334851" cy="373487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275242" y="2099362"/>
            <a:ext cx="437881" cy="3347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18" y="193183"/>
            <a:ext cx="8886422" cy="6664817"/>
          </a:xfrm>
        </p:spPr>
      </p:pic>
      <p:sp>
        <p:nvSpPr>
          <p:cNvPr id="5" name="矩形 4"/>
          <p:cNvSpPr/>
          <p:nvPr/>
        </p:nvSpPr>
        <p:spPr>
          <a:xfrm>
            <a:off x="4623515" y="2009210"/>
            <a:ext cx="540369" cy="3347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063025" y="1577960"/>
            <a:ext cx="540369" cy="26963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278191" y="1040839"/>
            <a:ext cx="540369" cy="6498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418526" y="2433931"/>
            <a:ext cx="93091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第一步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36087" y="1181098"/>
            <a:ext cx="320791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第二步</a:t>
            </a:r>
            <a:r>
              <a:rPr lang="en-US" altLang="zh-CN" sz="1800" dirty="0">
                <a:solidFill>
                  <a:srgbClr val="FF0000"/>
                </a:solidFill>
              </a:rPr>
              <a:t>: </a:t>
            </a:r>
            <a:r>
              <a:rPr lang="zh-CN" altLang="en-US" sz="1800" dirty="0">
                <a:solidFill>
                  <a:srgbClr val="FF0000"/>
                </a:solidFill>
              </a:rPr>
              <a:t>旋转选择信源，确定后按下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92" y="1853964"/>
            <a:ext cx="7772400" cy="3759672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4FC249-0138-4740-AD7C-C31857BF085C}" type="slidenum">
              <a:rPr lang="zh-CN" altLang="en-GB" smtClean="0"/>
            </a:fld>
            <a:endParaRPr lang="en-GB" altLang="zh-C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943" y="990600"/>
            <a:ext cx="1012371" cy="533400"/>
          </a:xfrm>
        </p:spPr>
        <p:txBody>
          <a:bodyPr/>
          <a:lstStyle/>
          <a:p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练习</a:t>
            </a:r>
            <a:endParaRPr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1. </a:t>
            </a:r>
            <a:r>
              <a:rPr lang="zh-CN" altLang="en-US" sz="2400" dirty="0"/>
              <a:t>在实验箱上测试</a:t>
            </a:r>
            <a:r>
              <a:rPr lang="en-US" altLang="zh-CN" sz="2400" dirty="0"/>
              <a:t>74LS197</a:t>
            </a:r>
            <a:r>
              <a:rPr lang="zh-CN" altLang="en-US" sz="2400" dirty="0"/>
              <a:t>接成的十六进制计数器，利用示波器</a:t>
            </a:r>
            <a:r>
              <a:rPr lang="en-US" altLang="zh-CN" sz="2400" dirty="0"/>
              <a:t>/</a:t>
            </a:r>
            <a:r>
              <a:rPr lang="zh-CN" altLang="en-US" sz="2400" dirty="0"/>
              <a:t>逻辑分析仪观察计数器的输出波形，记录、验证波形。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2. </a:t>
            </a:r>
            <a:r>
              <a:rPr lang="zh-CN" altLang="en-US" sz="2400" dirty="0"/>
              <a:t>利用实验箱上的器件动态测试</a:t>
            </a:r>
            <a:r>
              <a:rPr lang="en-US" altLang="zh-CN" sz="2400" dirty="0"/>
              <a:t>74LS08</a:t>
            </a:r>
            <a:r>
              <a:rPr lang="zh-CN" altLang="en-US" sz="2400" dirty="0"/>
              <a:t>、</a:t>
            </a:r>
            <a:r>
              <a:rPr lang="en-US" altLang="zh-CN" sz="2400" dirty="0"/>
              <a:t>74LS20</a:t>
            </a:r>
            <a:r>
              <a:rPr lang="zh-CN" altLang="en-US" sz="2400" dirty="0"/>
              <a:t>和</a:t>
            </a:r>
            <a:r>
              <a:rPr lang="en-US" altLang="zh-CN" sz="2400" dirty="0"/>
              <a:t>74LS86</a:t>
            </a:r>
            <a:r>
              <a:rPr lang="zh-CN" altLang="en-US" sz="2400" dirty="0"/>
              <a:t>，并将测试结果与实验</a:t>
            </a:r>
            <a:r>
              <a:rPr lang="en-US" altLang="zh-CN" sz="2400" dirty="0"/>
              <a:t>1</a:t>
            </a:r>
            <a:r>
              <a:rPr lang="zh-CN" altLang="en-US" sz="2400" dirty="0"/>
              <a:t>的测量结果对比。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5" name="标题 1"/>
          <p:cNvSpPr txBox="1"/>
          <p:nvPr/>
        </p:nvSpPr>
        <p:spPr bwMode="auto">
          <a:xfrm>
            <a:off x="-246185" y="290059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92175"/>
            <a:ext cx="7993063" cy="581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64B019-0E79-4B88-9F29-A92EBDFFB05A}" type="slidenum">
              <a:rPr lang="en-US" altLang="zh-CN" smtClean="0"/>
            </a:fld>
            <a:endParaRPr lang="en-US" altLang="zh-CN"/>
          </a:p>
        </p:txBody>
      </p:sp>
      <p:sp>
        <p:nvSpPr>
          <p:cNvPr id="3" name="标题 1"/>
          <p:cNvSpPr txBox="1"/>
          <p:nvPr/>
        </p:nvSpPr>
        <p:spPr bwMode="auto">
          <a:xfrm>
            <a:off x="228600" y="479652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xfrm>
            <a:off x="642257" y="982574"/>
            <a:ext cx="3831771" cy="542304"/>
          </a:xfrm>
        </p:spPr>
        <p:txBody>
          <a:bodyPr/>
          <a:lstStyle/>
          <a:p>
            <a:pPr eaLnBrk="1" hangingPunct="1"/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万用表</a:t>
            </a:r>
            <a:endParaRPr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740229" y="1555955"/>
            <a:ext cx="8229600" cy="4389437"/>
          </a:xfrm>
        </p:spPr>
        <p:txBody>
          <a:bodyPr/>
          <a:lstStyle/>
          <a:p>
            <a:pPr eaLnBrk="1" hangingPunct="1"/>
            <a:r>
              <a:rPr lang="zh-CN" altLang="en-US" sz="2000" dirty="0"/>
              <a:t>可测多种电量的多量程电工测量仪表；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测电阻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测电流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测电压</a:t>
            </a:r>
            <a:endParaRPr lang="zh-CN" altLang="en-US" sz="2000" dirty="0"/>
          </a:p>
          <a:p>
            <a:pPr eaLnBrk="1" hangingPunct="1"/>
            <a:r>
              <a:rPr lang="en-US" altLang="zh-CN" sz="2000" dirty="0"/>
              <a:t>…</a:t>
            </a:r>
            <a:endParaRPr lang="en-US" altLang="zh-CN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6429" y="2077967"/>
            <a:ext cx="1944793" cy="226181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856" y="2077967"/>
            <a:ext cx="1842915" cy="2261812"/>
          </a:xfrm>
          <a:prstGeom prst="rect">
            <a:avLst/>
          </a:prstGeom>
        </p:spPr>
      </p:pic>
      <p:sp>
        <p:nvSpPr>
          <p:cNvPr id="6" name="Rectangle 2"/>
          <p:cNvSpPr txBox="1"/>
          <p:nvPr/>
        </p:nvSpPr>
        <p:spPr bwMode="auto">
          <a:xfrm>
            <a:off x="740229" y="4553236"/>
            <a:ext cx="7772400" cy="187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185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 panose="05020102010507070707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 panose="05020102010507070707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1800" dirty="0"/>
              <a:t>V</a:t>
            </a:r>
            <a:r>
              <a:rPr lang="zh-CN" altLang="en-US" sz="1800" dirty="0"/>
              <a:t>档：测电压，红“＋”，黑“－”；</a:t>
            </a:r>
            <a:r>
              <a:rPr lang="en-US" altLang="zh-CN" sz="1800" dirty="0"/>
              <a:t>V-</a:t>
            </a:r>
            <a:r>
              <a:rPr lang="zh-CN" altLang="en-US" sz="1800" dirty="0"/>
              <a:t>用于测量直流电压；</a:t>
            </a:r>
            <a:r>
              <a:rPr lang="en-US" altLang="zh-CN" sz="1800" dirty="0"/>
              <a:t>V~</a:t>
            </a:r>
            <a:r>
              <a:rPr lang="zh-CN" altLang="en-US" sz="1800" dirty="0"/>
              <a:t>用于测量交流电压；</a:t>
            </a:r>
            <a:endParaRPr lang="zh-CN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1800" dirty="0"/>
              <a:t>A</a:t>
            </a:r>
            <a:r>
              <a:rPr lang="zh-CN" altLang="en-US" sz="1800" dirty="0"/>
              <a:t>档：测电流，</a:t>
            </a:r>
            <a:r>
              <a:rPr lang="zh-CN" altLang="en-US" sz="1800" b="1" dirty="0"/>
              <a:t>串联入电路</a:t>
            </a:r>
            <a:r>
              <a:rPr lang="zh-CN" altLang="en-US" sz="1800" dirty="0"/>
              <a:t>，电流从红表笔流入，从黑表笔流出；注意不能将电流表直接接在电源的“＋”、“－”之间；</a:t>
            </a:r>
            <a:endParaRPr lang="zh-CN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1800" dirty="0"/>
              <a:t>Ω</a:t>
            </a:r>
            <a:r>
              <a:rPr lang="zh-CN" altLang="en-US" sz="1800" dirty="0"/>
              <a:t>档：测电阻，此时万用表使用内部电源，黑表笔对应高电势，红表笔对应低电势。</a:t>
            </a: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5" name="标题 1"/>
          <p:cNvSpPr txBox="1"/>
          <p:nvPr/>
        </p:nvSpPr>
        <p:spPr bwMode="auto">
          <a:xfrm>
            <a:off x="-195943" y="284508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611560" y="935281"/>
            <a:ext cx="8229600" cy="651098"/>
          </a:xfrm>
        </p:spPr>
        <p:txBody>
          <a:bodyPr/>
          <a:lstStyle/>
          <a:p>
            <a:pPr eaLnBrk="1" hangingPunct="1"/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注意事项</a:t>
            </a:r>
            <a:endParaRPr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1068760" y="1686396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使用前调零；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注意万用表面板插孔的极性；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量程转换开关必须拨在需测档位置；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测直流电压、电流时，正负端应与被测的电压、电流正负端相接，测电流时须将表串接入电路；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注意所测电量是交流还是直流；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测电阻，需要先将表笔短路并“调零”，以确保测量的准确性；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表盘上有多条标尺，要根据不同的被测量来读数；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每次测量完毕，将转换开关拨到交流电压最高档。</a:t>
            </a:r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3" name="标题 1"/>
          <p:cNvSpPr txBox="1"/>
          <p:nvPr/>
        </p:nvSpPr>
        <p:spPr bwMode="auto">
          <a:xfrm>
            <a:off x="-195943" y="284508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8015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549275"/>
            <a:ext cx="7696200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45C75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3F64B019-0E79-4B88-9F29-A92EBDFFB05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advTm="12468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7" y="1770063"/>
            <a:ext cx="6308725" cy="470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文本框 1"/>
          <p:cNvSpPr txBox="1">
            <a:spLocks noChangeArrowheads="1"/>
          </p:cNvSpPr>
          <p:nvPr/>
        </p:nvSpPr>
        <p:spPr bwMode="auto">
          <a:xfrm>
            <a:off x="756887" y="991701"/>
            <a:ext cx="55435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>
                <a:latin typeface="+mn-lt"/>
                <a:ea typeface="+mn-ea"/>
              </a:rPr>
              <a:t>直流电压测量</a:t>
            </a:r>
            <a:endParaRPr lang="zh-CN" altLang="en-US" sz="3200" dirty="0">
              <a:latin typeface="+mn-lt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64B019-0E79-4B88-9F29-A92EBDFFB05A}" type="slidenum">
              <a:rPr lang="en-US" altLang="zh-CN" smtClean="0"/>
            </a:fld>
            <a:endParaRPr lang="en-US" altLang="zh-CN"/>
          </a:p>
        </p:txBody>
      </p:sp>
      <p:sp>
        <p:nvSpPr>
          <p:cNvPr id="3" name="标题 1"/>
          <p:cNvSpPr txBox="1"/>
          <p:nvPr/>
        </p:nvSpPr>
        <p:spPr bwMode="auto">
          <a:xfrm>
            <a:off x="-246185" y="327672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628775"/>
            <a:ext cx="6888162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文本框 2"/>
          <p:cNvSpPr txBox="1">
            <a:spLocks noChangeArrowheads="1"/>
          </p:cNvSpPr>
          <p:nvPr/>
        </p:nvSpPr>
        <p:spPr bwMode="auto">
          <a:xfrm>
            <a:off x="-840922" y="1007488"/>
            <a:ext cx="55435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dirty="0">
                <a:latin typeface="+mn-lt"/>
                <a:ea typeface="+mn-ea"/>
              </a:rPr>
              <a:t>直流电流测量</a:t>
            </a:r>
            <a:endParaRPr lang="zh-CN" altLang="en-US" sz="3200" dirty="0">
              <a:latin typeface="+mn-lt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64B019-0E79-4B88-9F29-A92EBDFFB05A}" type="slidenum">
              <a:rPr lang="en-US" altLang="zh-CN" smtClean="0"/>
            </a:fld>
            <a:endParaRPr lang="en-US" altLang="zh-CN"/>
          </a:p>
        </p:txBody>
      </p:sp>
      <p:sp>
        <p:nvSpPr>
          <p:cNvPr id="3" name="标题 1"/>
          <p:cNvSpPr txBox="1"/>
          <p:nvPr/>
        </p:nvSpPr>
        <p:spPr bwMode="auto">
          <a:xfrm>
            <a:off x="-246185" y="327672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773238"/>
            <a:ext cx="6935787" cy="481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文本框 3"/>
          <p:cNvSpPr txBox="1">
            <a:spLocks noChangeArrowheads="1"/>
          </p:cNvSpPr>
          <p:nvPr/>
        </p:nvSpPr>
        <p:spPr bwMode="auto">
          <a:xfrm>
            <a:off x="-745332" y="954088"/>
            <a:ext cx="55451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dirty="0">
                <a:latin typeface="+mn-lt"/>
                <a:ea typeface="+mn-ea"/>
              </a:rPr>
              <a:t>二线电阻测量</a:t>
            </a:r>
            <a:endParaRPr lang="zh-CN" altLang="en-US" sz="3200" dirty="0">
              <a:latin typeface="+mn-lt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64B019-0E79-4B88-9F29-A92EBDFFB05A}" type="slidenum">
              <a:rPr lang="en-US" altLang="zh-CN" smtClean="0"/>
            </a:fld>
            <a:endParaRPr lang="en-US" altLang="zh-CN"/>
          </a:p>
        </p:txBody>
      </p:sp>
      <p:sp>
        <p:nvSpPr>
          <p:cNvPr id="3" name="标题 1"/>
          <p:cNvSpPr txBox="1"/>
          <p:nvPr/>
        </p:nvSpPr>
        <p:spPr bwMode="auto">
          <a:xfrm>
            <a:off x="-246185" y="290059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569438" y="962372"/>
            <a:ext cx="2903105" cy="526944"/>
          </a:xfrm>
        </p:spPr>
        <p:txBody>
          <a:bodyPr/>
          <a:lstStyle/>
          <a:p>
            <a:pPr algn="ctr" eaLnBrk="1" hangingPunct="1"/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直流稳压电源</a:t>
            </a:r>
            <a:endParaRPr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将交流电转变为稳定的、输出功率符合要求的直流电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326" y="3185207"/>
            <a:ext cx="3929074" cy="23247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544" y="2777111"/>
            <a:ext cx="3458656" cy="3140968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5" name="标题 1"/>
          <p:cNvSpPr txBox="1"/>
          <p:nvPr/>
        </p:nvSpPr>
        <p:spPr bwMode="auto">
          <a:xfrm>
            <a:off x="-246185" y="290059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408808" y="985501"/>
            <a:ext cx="3662449" cy="562946"/>
          </a:xfrm>
        </p:spPr>
        <p:txBody>
          <a:bodyPr/>
          <a:lstStyle/>
          <a:p>
            <a:pPr algn="ctr" eaLnBrk="1" hangingPunct="1"/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稳压电源使用方法</a:t>
            </a:r>
            <a:endParaRPr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685800" y="1579861"/>
            <a:ext cx="8374259" cy="4897139"/>
          </a:xfrm>
        </p:spPr>
        <p:txBody>
          <a:bodyPr/>
          <a:lstStyle/>
          <a:p>
            <a:pPr eaLnBrk="1" hangingPunct="1"/>
            <a:r>
              <a:rPr lang="zh-CN" altLang="en-US" sz="2000" dirty="0"/>
              <a:t>可调电源作为稳压源使用</a:t>
            </a:r>
            <a:endParaRPr lang="zh-CN" altLang="en-US" sz="2000" dirty="0"/>
          </a:p>
          <a:p>
            <a:pPr lvl="1" eaLnBrk="1" hangingPunct="1"/>
            <a:r>
              <a:rPr lang="zh-CN" altLang="en-US" sz="1800" dirty="0"/>
              <a:t>将稳流调节旋钮顺时针调节到最大</a:t>
            </a:r>
            <a:endParaRPr lang="zh-CN" altLang="en-US" sz="1800" dirty="0"/>
          </a:p>
          <a:p>
            <a:pPr lvl="1" eaLnBrk="1" hangingPunct="1"/>
            <a:r>
              <a:rPr lang="zh-CN" altLang="en-US" sz="1800" dirty="0"/>
              <a:t>打开电源开关</a:t>
            </a:r>
            <a:endParaRPr lang="zh-CN" altLang="en-US" sz="1800" dirty="0"/>
          </a:p>
          <a:p>
            <a:pPr lvl="1" eaLnBrk="1" hangingPunct="1"/>
            <a:r>
              <a:rPr lang="zh-CN" altLang="en-US" sz="1800" dirty="0"/>
              <a:t>调节电压输出至所需值</a:t>
            </a:r>
            <a:endParaRPr lang="en-US" altLang="zh-CN" sz="1800" dirty="0"/>
          </a:p>
          <a:p>
            <a:pPr eaLnBrk="1" hangingPunct="1"/>
            <a:r>
              <a:rPr lang="zh-CN" altLang="en-US" sz="2000" dirty="0"/>
              <a:t>可调电源作稳压电源使用时，任意限流保护值的设定</a:t>
            </a:r>
            <a:endParaRPr lang="zh-CN" altLang="en-US" sz="2000" dirty="0"/>
          </a:p>
          <a:p>
            <a:pPr lvl="1" eaLnBrk="1" hangingPunct="1"/>
            <a:r>
              <a:rPr lang="zh-CN" altLang="en-US" sz="1800" dirty="0"/>
              <a:t>打开电源；</a:t>
            </a:r>
            <a:endParaRPr lang="zh-CN" altLang="en-US" sz="1800" dirty="0"/>
          </a:p>
          <a:p>
            <a:pPr lvl="1" eaLnBrk="1" hangingPunct="1"/>
            <a:r>
              <a:rPr lang="zh-CN" altLang="en-US" sz="1800" dirty="0"/>
              <a:t>调节电流旋钮向正上方；</a:t>
            </a:r>
            <a:endParaRPr lang="zh-CN" altLang="en-US" sz="1800" dirty="0"/>
          </a:p>
          <a:p>
            <a:pPr lvl="1" eaLnBrk="1" hangingPunct="1"/>
            <a:r>
              <a:rPr lang="zh-CN" altLang="en-US" sz="1800" dirty="0"/>
              <a:t>调节电压旋钮至</a:t>
            </a:r>
            <a:r>
              <a:rPr lang="en-US" altLang="zh-CN" sz="1800" dirty="0"/>
              <a:t>5.7V</a:t>
            </a:r>
            <a:r>
              <a:rPr lang="zh-CN" altLang="en-US" sz="1800" dirty="0"/>
              <a:t>；</a:t>
            </a:r>
            <a:endParaRPr lang="zh-CN" altLang="en-US" sz="1800" dirty="0"/>
          </a:p>
          <a:p>
            <a:pPr lvl="1" eaLnBrk="1" hangingPunct="1"/>
            <a:r>
              <a:rPr lang="zh-CN" altLang="en-US" sz="1800" dirty="0"/>
              <a:t>将稳流输出调节旋钮逆时针调至最小；</a:t>
            </a:r>
            <a:endParaRPr lang="zh-CN" altLang="en-US" sz="1800" dirty="0"/>
          </a:p>
          <a:p>
            <a:pPr lvl="1" eaLnBrk="1" hangingPunct="1"/>
            <a:r>
              <a:rPr lang="zh-CN" altLang="en-US" sz="1800" dirty="0"/>
              <a:t>短接正、负端输出；</a:t>
            </a:r>
            <a:endParaRPr lang="zh-CN" altLang="en-US" sz="1800" dirty="0"/>
          </a:p>
          <a:p>
            <a:pPr lvl="1" eaLnBrk="1" hangingPunct="1"/>
            <a:r>
              <a:rPr lang="zh-CN" altLang="en-US" sz="1800" dirty="0"/>
              <a:t>顺时针调节稳流输出调节旋钮，使输出电流等于所要设定的限流值（例如</a:t>
            </a:r>
            <a:r>
              <a:rPr lang="en-US" altLang="zh-CN" sz="1800" dirty="0"/>
              <a:t>500mA</a:t>
            </a:r>
            <a:r>
              <a:rPr lang="zh-CN" altLang="en-US" sz="1800" dirty="0"/>
              <a:t>）；</a:t>
            </a:r>
            <a:endParaRPr lang="zh-CN" altLang="en-US" sz="1800" dirty="0"/>
          </a:p>
          <a:p>
            <a:pPr lvl="1" eaLnBrk="1" hangingPunct="1"/>
            <a:r>
              <a:rPr lang="zh-CN" altLang="en-US" sz="1800" dirty="0"/>
              <a:t>解除电源正负极之间的短接。</a:t>
            </a:r>
            <a:endParaRPr lang="zh-CN" altLang="en-US" sz="1800" dirty="0"/>
          </a:p>
          <a:p>
            <a:pPr eaLnBrk="1" hangingPunct="1"/>
            <a:endParaRPr lang="zh-CN" altLang="en-US" sz="20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3" name="标题 1"/>
          <p:cNvSpPr txBox="1"/>
          <p:nvPr/>
        </p:nvSpPr>
        <p:spPr bwMode="auto">
          <a:xfrm>
            <a:off x="-246185" y="290059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xfrm>
            <a:off x="555172" y="914400"/>
            <a:ext cx="6281057" cy="609600"/>
          </a:xfrm>
        </p:spPr>
        <p:txBody>
          <a:bodyPr/>
          <a:lstStyle/>
          <a:p>
            <a:pPr eaLnBrk="1" hangingPunct="1"/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稳压电源使用注意事项</a:t>
            </a:r>
            <a:endParaRPr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957943" y="1828800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避免电源正负端短路</a:t>
            </a:r>
            <a:endParaRPr lang="en-US" altLang="zh-CN" sz="2800" dirty="0"/>
          </a:p>
          <a:p>
            <a:pPr marL="0" indent="0" eaLnBrk="1" hangingPunct="1">
              <a:buNone/>
            </a:pPr>
            <a:endParaRPr lang="zh-CN" altLang="en-US" sz="2800" dirty="0"/>
          </a:p>
          <a:p>
            <a:pPr eaLnBrk="1" hangingPunct="1"/>
            <a:r>
              <a:rPr lang="zh-CN" altLang="en-US" sz="2800" dirty="0"/>
              <a:t>输出电压正极接负载正端、输出电压负极接负载负端</a:t>
            </a: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3" name="标题 1"/>
          <p:cNvSpPr txBox="1"/>
          <p:nvPr/>
        </p:nvSpPr>
        <p:spPr bwMode="auto">
          <a:xfrm>
            <a:off x="-246185" y="290059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533855" y="957943"/>
            <a:ext cx="3600400" cy="616508"/>
          </a:xfrm>
        </p:spPr>
        <p:txBody>
          <a:bodyPr/>
          <a:lstStyle/>
          <a:p>
            <a:pPr eaLnBrk="1" hangingPunct="1"/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函数信号发生器</a:t>
            </a:r>
            <a:endParaRPr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857093" y="1567715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一种能够产生多种波形的信号发生器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可产生：正弦波、方波、三角波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输出电压大小和频率可以调节</a:t>
            </a:r>
            <a:endParaRPr lang="zh-CN" altLang="en-US" sz="2400" dirty="0"/>
          </a:p>
        </p:txBody>
      </p:sp>
      <p:pic>
        <p:nvPicPr>
          <p:cNvPr id="4" name="Picture 2" descr="函数发生器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38" y="3399181"/>
            <a:ext cx="3600400" cy="208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8295"/>
          <p:cNvGrpSpPr/>
          <p:nvPr/>
        </p:nvGrpSpPr>
        <p:grpSpPr bwMode="auto">
          <a:xfrm>
            <a:off x="4255121" y="2996952"/>
            <a:ext cx="4573141" cy="2880742"/>
            <a:chOff x="0" y="0"/>
            <a:chExt cx="4773587" cy="3049433"/>
          </a:xfrm>
        </p:grpSpPr>
        <p:pic>
          <p:nvPicPr>
            <p:cNvPr id="6" name="Picture 86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75112" y="287172"/>
              <a:ext cx="4596486" cy="2360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Shape 870"/>
            <p:cNvSpPr/>
            <p:nvPr/>
          </p:nvSpPr>
          <p:spPr>
            <a:xfrm>
              <a:off x="3716104" y="1177367"/>
              <a:ext cx="864903" cy="665394"/>
            </a:xfrm>
            <a:custGeom>
              <a:avLst/>
              <a:gdLst/>
              <a:ahLst/>
              <a:cxnLst/>
              <a:rect l="0" t="0" r="0" b="0"/>
              <a:pathLst>
                <a:path w="864356" h="666409">
                  <a:moveTo>
                    <a:pt x="740875" y="666409"/>
                  </a:moveTo>
                  <a:cubicBezTo>
                    <a:pt x="809071" y="666409"/>
                    <a:pt x="864356" y="611155"/>
                    <a:pt x="864356" y="542997"/>
                  </a:cubicBezTo>
                  <a:lnTo>
                    <a:pt x="864356" y="542997"/>
                  </a:lnTo>
                  <a:lnTo>
                    <a:pt x="864356" y="123405"/>
                  </a:lnTo>
                  <a:cubicBezTo>
                    <a:pt x="864356" y="55254"/>
                    <a:pt x="809071" y="0"/>
                    <a:pt x="740875" y="0"/>
                  </a:cubicBezTo>
                  <a:lnTo>
                    <a:pt x="123481" y="0"/>
                  </a:lnTo>
                  <a:cubicBezTo>
                    <a:pt x="55285" y="0"/>
                    <a:pt x="0" y="55254"/>
                    <a:pt x="0" y="123405"/>
                  </a:cubicBezTo>
                  <a:lnTo>
                    <a:pt x="0" y="123405"/>
                  </a:lnTo>
                  <a:lnTo>
                    <a:pt x="0" y="542997"/>
                  </a:lnTo>
                  <a:cubicBezTo>
                    <a:pt x="0" y="611155"/>
                    <a:pt x="55285" y="666409"/>
                    <a:pt x="123481" y="666409"/>
                  </a:cubicBezTo>
                  <a:lnTo>
                    <a:pt x="740875" y="666409"/>
                  </a:lnTo>
                  <a:lnTo>
                    <a:pt x="740875" y="666409"/>
                  </a:lnTo>
                  <a:close/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Shape 871"/>
            <p:cNvSpPr/>
            <p:nvPr/>
          </p:nvSpPr>
          <p:spPr>
            <a:xfrm>
              <a:off x="2204440" y="1198053"/>
              <a:ext cx="380046" cy="0"/>
            </a:xfrm>
            <a:custGeom>
              <a:avLst/>
              <a:gdLst/>
              <a:ahLst/>
              <a:cxnLst/>
              <a:rect l="0" t="0" r="0" b="0"/>
              <a:pathLst>
                <a:path w="380095">
                  <a:moveTo>
                    <a:pt x="380095" y="0"/>
                  </a:moveTo>
                  <a:lnTo>
                    <a:pt x="292349" y="0"/>
                  </a:lnTo>
                  <a:lnTo>
                    <a:pt x="199754" y="0"/>
                  </a:lnTo>
                  <a:lnTo>
                    <a:pt x="102304" y="0"/>
                  </a:ln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Shape 872"/>
            <p:cNvSpPr/>
            <p:nvPr/>
          </p:nvSpPr>
          <p:spPr>
            <a:xfrm>
              <a:off x="2575965" y="1165301"/>
              <a:ext cx="97142" cy="64643"/>
            </a:xfrm>
            <a:custGeom>
              <a:avLst/>
              <a:gdLst/>
              <a:ahLst/>
              <a:cxnLst/>
              <a:rect l="0" t="0" r="0" b="0"/>
              <a:pathLst>
                <a:path w="97227" h="64782">
                  <a:moveTo>
                    <a:pt x="0" y="0"/>
                  </a:moveTo>
                  <a:lnTo>
                    <a:pt x="97227" y="32391"/>
                  </a:lnTo>
                  <a:lnTo>
                    <a:pt x="0" y="64782"/>
                  </a:lnTo>
                  <a:lnTo>
                    <a:pt x="0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Shape 873"/>
            <p:cNvSpPr/>
            <p:nvPr/>
          </p:nvSpPr>
          <p:spPr>
            <a:xfrm>
              <a:off x="2278574" y="1917747"/>
              <a:ext cx="404758" cy="0"/>
            </a:xfrm>
            <a:custGeom>
              <a:avLst/>
              <a:gdLst/>
              <a:ahLst/>
              <a:cxnLst/>
              <a:rect l="0" t="0" r="0" b="0"/>
              <a:pathLst>
                <a:path w="404794">
                  <a:moveTo>
                    <a:pt x="404794" y="0"/>
                  </a:move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" name="Shape 874"/>
            <p:cNvSpPr/>
            <p:nvPr/>
          </p:nvSpPr>
          <p:spPr>
            <a:xfrm>
              <a:off x="2674811" y="1885856"/>
              <a:ext cx="97142" cy="64643"/>
            </a:xfrm>
            <a:custGeom>
              <a:avLst/>
              <a:gdLst/>
              <a:ahLst/>
              <a:cxnLst/>
              <a:rect l="0" t="0" r="0" b="0"/>
              <a:pathLst>
                <a:path w="97227" h="64782">
                  <a:moveTo>
                    <a:pt x="0" y="0"/>
                  </a:moveTo>
                  <a:lnTo>
                    <a:pt x="97227" y="32391"/>
                  </a:lnTo>
                  <a:lnTo>
                    <a:pt x="0" y="64782"/>
                  </a:lnTo>
                  <a:lnTo>
                    <a:pt x="0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Shape 875"/>
            <p:cNvSpPr/>
            <p:nvPr/>
          </p:nvSpPr>
          <p:spPr>
            <a:xfrm>
              <a:off x="846157" y="2312501"/>
              <a:ext cx="0" cy="370621"/>
            </a:xfrm>
            <a:custGeom>
              <a:avLst/>
              <a:gdLst/>
              <a:ahLst/>
              <a:cxnLst/>
              <a:rect l="0" t="0" r="0" b="0"/>
              <a:pathLst>
                <a:path h="370229">
                  <a:moveTo>
                    <a:pt x="0" y="0"/>
                  </a:moveTo>
                  <a:lnTo>
                    <a:pt x="0" y="92967"/>
                  </a:lnTo>
                  <a:lnTo>
                    <a:pt x="0" y="176471"/>
                  </a:lnTo>
                  <a:lnTo>
                    <a:pt x="0" y="250513"/>
                  </a:lnTo>
                  <a:lnTo>
                    <a:pt x="0" y="315099"/>
                  </a:lnTo>
                  <a:lnTo>
                    <a:pt x="0" y="370229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Shape 876"/>
            <p:cNvSpPr/>
            <p:nvPr/>
          </p:nvSpPr>
          <p:spPr>
            <a:xfrm>
              <a:off x="2611754" y="2348701"/>
              <a:ext cx="0" cy="334421"/>
            </a:xfrm>
            <a:custGeom>
              <a:avLst/>
              <a:gdLst/>
              <a:ahLst/>
              <a:cxnLst/>
              <a:rect l="0" t="0" r="0" b="0"/>
              <a:pathLst>
                <a:path h="334906">
                  <a:moveTo>
                    <a:pt x="0" y="0"/>
                  </a:moveTo>
                  <a:lnTo>
                    <a:pt x="0" y="82055"/>
                  </a:lnTo>
                  <a:lnTo>
                    <a:pt x="0" y="156573"/>
                  </a:lnTo>
                  <a:lnTo>
                    <a:pt x="0" y="223549"/>
                  </a:lnTo>
                  <a:lnTo>
                    <a:pt x="0" y="282996"/>
                  </a:lnTo>
                  <a:lnTo>
                    <a:pt x="0" y="334906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4" name="Shape 877"/>
            <p:cNvSpPr/>
            <p:nvPr/>
          </p:nvSpPr>
          <p:spPr>
            <a:xfrm>
              <a:off x="2579373" y="2259063"/>
              <a:ext cx="64761" cy="97395"/>
            </a:xfrm>
            <a:custGeom>
              <a:avLst/>
              <a:gdLst/>
              <a:ahLst/>
              <a:cxnLst/>
              <a:rect l="0" t="0" r="0" b="0"/>
              <a:pathLst>
                <a:path w="64818" h="97173">
                  <a:moveTo>
                    <a:pt x="32409" y="0"/>
                  </a:moveTo>
                  <a:lnTo>
                    <a:pt x="64818" y="97173"/>
                  </a:lnTo>
                  <a:lnTo>
                    <a:pt x="0" y="97173"/>
                  </a:lnTo>
                  <a:lnTo>
                    <a:pt x="32409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Shape 878"/>
            <p:cNvSpPr/>
            <p:nvPr/>
          </p:nvSpPr>
          <p:spPr>
            <a:xfrm>
              <a:off x="3130696" y="2348701"/>
              <a:ext cx="0" cy="502493"/>
            </a:xfrm>
            <a:custGeom>
              <a:avLst/>
              <a:gdLst/>
              <a:ahLst/>
              <a:cxnLst/>
              <a:rect l="0" t="0" r="0" b="0"/>
              <a:pathLst>
                <a:path h="503293">
                  <a:moveTo>
                    <a:pt x="0" y="0"/>
                  </a:moveTo>
                  <a:lnTo>
                    <a:pt x="0" y="124241"/>
                  </a:lnTo>
                  <a:lnTo>
                    <a:pt x="0" y="236695"/>
                  </a:lnTo>
                  <a:lnTo>
                    <a:pt x="0" y="337348"/>
                  </a:lnTo>
                  <a:lnTo>
                    <a:pt x="0" y="426214"/>
                  </a:lnTo>
                  <a:lnTo>
                    <a:pt x="0" y="503293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6" name="Shape 879"/>
            <p:cNvSpPr/>
            <p:nvPr/>
          </p:nvSpPr>
          <p:spPr>
            <a:xfrm>
              <a:off x="3098315" y="2259063"/>
              <a:ext cx="64761" cy="97395"/>
            </a:xfrm>
            <a:custGeom>
              <a:avLst/>
              <a:gdLst/>
              <a:ahLst/>
              <a:cxnLst/>
              <a:rect l="0" t="0" r="0" b="0"/>
              <a:pathLst>
                <a:path w="64818" h="97173">
                  <a:moveTo>
                    <a:pt x="32409" y="0"/>
                  </a:moveTo>
                  <a:lnTo>
                    <a:pt x="64818" y="97173"/>
                  </a:lnTo>
                  <a:lnTo>
                    <a:pt x="0" y="97173"/>
                  </a:lnTo>
                  <a:lnTo>
                    <a:pt x="32409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7" name="Shape 880"/>
            <p:cNvSpPr/>
            <p:nvPr/>
          </p:nvSpPr>
          <p:spPr>
            <a:xfrm>
              <a:off x="3648786" y="2378006"/>
              <a:ext cx="0" cy="305116"/>
            </a:xfrm>
            <a:custGeom>
              <a:avLst/>
              <a:gdLst/>
              <a:ahLst/>
              <a:cxnLst/>
              <a:rect l="0" t="0" r="0" b="0"/>
              <a:pathLst>
                <a:path h="305839">
                  <a:moveTo>
                    <a:pt x="0" y="0"/>
                  </a:moveTo>
                  <a:lnTo>
                    <a:pt x="0" y="74780"/>
                  </a:lnTo>
                  <a:lnTo>
                    <a:pt x="0" y="142755"/>
                  </a:lnTo>
                  <a:lnTo>
                    <a:pt x="0" y="203919"/>
                  </a:lnTo>
                  <a:lnTo>
                    <a:pt x="0" y="258278"/>
                  </a:lnTo>
                  <a:lnTo>
                    <a:pt x="0" y="305839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8" name="Shape 881"/>
            <p:cNvSpPr/>
            <p:nvPr/>
          </p:nvSpPr>
          <p:spPr>
            <a:xfrm>
              <a:off x="3616405" y="2288368"/>
              <a:ext cx="64761" cy="97395"/>
            </a:xfrm>
            <a:custGeom>
              <a:avLst/>
              <a:gdLst/>
              <a:ahLst/>
              <a:cxnLst/>
              <a:rect l="0" t="0" r="0" b="0"/>
              <a:pathLst>
                <a:path w="64818" h="97173">
                  <a:moveTo>
                    <a:pt x="32409" y="0"/>
                  </a:moveTo>
                  <a:lnTo>
                    <a:pt x="64818" y="97173"/>
                  </a:lnTo>
                  <a:lnTo>
                    <a:pt x="0" y="97173"/>
                  </a:lnTo>
                  <a:lnTo>
                    <a:pt x="32409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" name="Shape 882"/>
            <p:cNvSpPr/>
            <p:nvPr/>
          </p:nvSpPr>
          <p:spPr>
            <a:xfrm>
              <a:off x="4167729" y="2348701"/>
              <a:ext cx="0" cy="502493"/>
            </a:xfrm>
            <a:custGeom>
              <a:avLst/>
              <a:gdLst/>
              <a:ahLst/>
              <a:cxnLst/>
              <a:rect l="0" t="0" r="0" b="0"/>
              <a:pathLst>
                <a:path h="503293">
                  <a:moveTo>
                    <a:pt x="0" y="0"/>
                  </a:moveTo>
                  <a:lnTo>
                    <a:pt x="0" y="124241"/>
                  </a:lnTo>
                  <a:lnTo>
                    <a:pt x="0" y="236695"/>
                  </a:lnTo>
                  <a:lnTo>
                    <a:pt x="0" y="337348"/>
                  </a:lnTo>
                  <a:lnTo>
                    <a:pt x="0" y="426214"/>
                  </a:lnTo>
                  <a:lnTo>
                    <a:pt x="0" y="503293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" name="Shape 883"/>
            <p:cNvSpPr/>
            <p:nvPr/>
          </p:nvSpPr>
          <p:spPr>
            <a:xfrm>
              <a:off x="4135348" y="2259063"/>
              <a:ext cx="64761" cy="97395"/>
            </a:xfrm>
            <a:custGeom>
              <a:avLst/>
              <a:gdLst/>
              <a:ahLst/>
              <a:cxnLst/>
              <a:rect l="0" t="0" r="0" b="0"/>
              <a:pathLst>
                <a:path w="64818" h="97173">
                  <a:moveTo>
                    <a:pt x="32409" y="0"/>
                  </a:moveTo>
                  <a:lnTo>
                    <a:pt x="64818" y="97173"/>
                  </a:lnTo>
                  <a:lnTo>
                    <a:pt x="0" y="97173"/>
                  </a:lnTo>
                  <a:lnTo>
                    <a:pt x="32409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1" name="Shape 884"/>
            <p:cNvSpPr/>
            <p:nvPr/>
          </p:nvSpPr>
          <p:spPr>
            <a:xfrm>
              <a:off x="2771953" y="186172"/>
              <a:ext cx="0" cy="280982"/>
            </a:xfrm>
            <a:custGeom>
              <a:avLst/>
              <a:gdLst/>
              <a:ahLst/>
              <a:cxnLst/>
              <a:rect l="0" t="0" r="0" b="0"/>
              <a:pathLst>
                <a:path h="281154">
                  <a:moveTo>
                    <a:pt x="0" y="0"/>
                  </a:moveTo>
                  <a:lnTo>
                    <a:pt x="0" y="89780"/>
                  </a:lnTo>
                  <a:lnTo>
                    <a:pt x="0" y="183498"/>
                  </a:lnTo>
                  <a:lnTo>
                    <a:pt x="0" y="281154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2" name="Shape 885"/>
            <p:cNvSpPr/>
            <p:nvPr/>
          </p:nvSpPr>
          <p:spPr>
            <a:xfrm>
              <a:off x="2739572" y="459398"/>
              <a:ext cx="64761" cy="97395"/>
            </a:xfrm>
            <a:custGeom>
              <a:avLst/>
              <a:gdLst/>
              <a:ahLst/>
              <a:cxnLst/>
              <a:rect l="0" t="0" r="0" b="0"/>
              <a:pathLst>
                <a:path w="64818" h="97173">
                  <a:moveTo>
                    <a:pt x="0" y="0"/>
                  </a:moveTo>
                  <a:lnTo>
                    <a:pt x="64818" y="0"/>
                  </a:lnTo>
                  <a:lnTo>
                    <a:pt x="32409" y="97173"/>
                  </a:lnTo>
                  <a:lnTo>
                    <a:pt x="0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3" name="Shape 887"/>
            <p:cNvSpPr/>
            <p:nvPr/>
          </p:nvSpPr>
          <p:spPr>
            <a:xfrm>
              <a:off x="4082516" y="1883271"/>
              <a:ext cx="408166" cy="172382"/>
            </a:xfrm>
            <a:custGeom>
              <a:avLst/>
              <a:gdLst/>
              <a:ahLst/>
              <a:cxnLst/>
              <a:rect l="0" t="0" r="0" b="0"/>
              <a:pathLst>
                <a:path w="407479" h="172775">
                  <a:moveTo>
                    <a:pt x="321046" y="172775"/>
                  </a:moveTo>
                  <a:cubicBezTo>
                    <a:pt x="368784" y="172775"/>
                    <a:pt x="407479" y="134095"/>
                    <a:pt x="407479" y="86391"/>
                  </a:cubicBezTo>
                  <a:cubicBezTo>
                    <a:pt x="407479" y="38679"/>
                    <a:pt x="368784" y="0"/>
                    <a:pt x="321046" y="0"/>
                  </a:cubicBezTo>
                  <a:lnTo>
                    <a:pt x="86440" y="0"/>
                  </a:lnTo>
                  <a:cubicBezTo>
                    <a:pt x="38702" y="0"/>
                    <a:pt x="0" y="38679"/>
                    <a:pt x="0" y="86391"/>
                  </a:cubicBezTo>
                  <a:cubicBezTo>
                    <a:pt x="0" y="134095"/>
                    <a:pt x="38702" y="172775"/>
                    <a:pt x="86440" y="172775"/>
                  </a:cubicBezTo>
                  <a:lnTo>
                    <a:pt x="321046" y="172775"/>
                  </a:lnTo>
                  <a:lnTo>
                    <a:pt x="321046" y="172775"/>
                  </a:lnTo>
                  <a:close/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4" name="Shape 888"/>
            <p:cNvSpPr/>
            <p:nvPr/>
          </p:nvSpPr>
          <p:spPr>
            <a:xfrm>
              <a:off x="4537549" y="1908266"/>
              <a:ext cx="0" cy="939480"/>
            </a:xfrm>
            <a:custGeom>
              <a:avLst/>
              <a:gdLst/>
              <a:ahLst/>
              <a:cxnLst/>
              <a:rect l="0" t="0" r="0" b="0"/>
              <a:pathLst>
                <a:path h="938786">
                  <a:moveTo>
                    <a:pt x="0" y="0"/>
                  </a:moveTo>
                  <a:lnTo>
                    <a:pt x="0" y="938786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5" name="Shape 889"/>
            <p:cNvSpPr/>
            <p:nvPr/>
          </p:nvSpPr>
          <p:spPr>
            <a:xfrm>
              <a:off x="4505169" y="1819490"/>
              <a:ext cx="64761" cy="97395"/>
            </a:xfrm>
            <a:custGeom>
              <a:avLst/>
              <a:gdLst/>
              <a:ahLst/>
              <a:cxnLst/>
              <a:rect l="0" t="0" r="0" b="0"/>
              <a:pathLst>
                <a:path w="64818" h="97173">
                  <a:moveTo>
                    <a:pt x="32409" y="0"/>
                  </a:moveTo>
                  <a:lnTo>
                    <a:pt x="64818" y="97173"/>
                  </a:lnTo>
                  <a:lnTo>
                    <a:pt x="0" y="97173"/>
                  </a:lnTo>
                  <a:lnTo>
                    <a:pt x="32409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6" name="Shape 890"/>
            <p:cNvSpPr/>
            <p:nvPr/>
          </p:nvSpPr>
          <p:spPr>
            <a:xfrm>
              <a:off x="4315145" y="2145291"/>
              <a:ext cx="0" cy="528350"/>
            </a:xfrm>
            <a:custGeom>
              <a:avLst/>
              <a:gdLst/>
              <a:ahLst/>
              <a:cxnLst/>
              <a:rect l="0" t="0" r="0" b="0"/>
              <a:pathLst>
                <a:path h="527971">
                  <a:moveTo>
                    <a:pt x="0" y="0"/>
                  </a:moveTo>
                  <a:lnTo>
                    <a:pt x="0" y="130432"/>
                  </a:lnTo>
                  <a:lnTo>
                    <a:pt x="0" y="248443"/>
                  </a:lnTo>
                  <a:lnTo>
                    <a:pt x="0" y="354040"/>
                  </a:lnTo>
                  <a:lnTo>
                    <a:pt x="0" y="447216"/>
                  </a:lnTo>
                  <a:lnTo>
                    <a:pt x="0" y="527971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7" name="Shape 891"/>
            <p:cNvSpPr/>
            <p:nvPr/>
          </p:nvSpPr>
          <p:spPr>
            <a:xfrm>
              <a:off x="4282765" y="2055653"/>
              <a:ext cx="64761" cy="97395"/>
            </a:xfrm>
            <a:custGeom>
              <a:avLst/>
              <a:gdLst/>
              <a:ahLst/>
              <a:cxnLst/>
              <a:rect l="0" t="0" r="0" b="0"/>
              <a:pathLst>
                <a:path w="64818" h="97173">
                  <a:moveTo>
                    <a:pt x="32409" y="0"/>
                  </a:moveTo>
                  <a:lnTo>
                    <a:pt x="64818" y="97173"/>
                  </a:lnTo>
                  <a:lnTo>
                    <a:pt x="0" y="97173"/>
                  </a:lnTo>
                  <a:lnTo>
                    <a:pt x="32409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8" name="Shape 893"/>
            <p:cNvSpPr/>
            <p:nvPr/>
          </p:nvSpPr>
          <p:spPr>
            <a:xfrm>
              <a:off x="2957715" y="511974"/>
              <a:ext cx="974827" cy="321492"/>
            </a:xfrm>
            <a:custGeom>
              <a:avLst/>
              <a:gdLst/>
              <a:ahLst/>
              <a:cxnLst/>
              <a:rect l="0" t="0" r="0" b="0"/>
              <a:pathLst>
                <a:path w="975488" h="320865">
                  <a:moveTo>
                    <a:pt x="852007" y="320865"/>
                  </a:moveTo>
                  <a:cubicBezTo>
                    <a:pt x="920203" y="320865"/>
                    <a:pt x="975488" y="265612"/>
                    <a:pt x="975488" y="197453"/>
                  </a:cubicBezTo>
                  <a:lnTo>
                    <a:pt x="975488" y="197453"/>
                  </a:lnTo>
                  <a:lnTo>
                    <a:pt x="975488" y="123412"/>
                  </a:lnTo>
                  <a:cubicBezTo>
                    <a:pt x="975488" y="55254"/>
                    <a:pt x="920203" y="0"/>
                    <a:pt x="852007" y="0"/>
                  </a:cubicBezTo>
                  <a:lnTo>
                    <a:pt x="852007" y="0"/>
                  </a:lnTo>
                  <a:lnTo>
                    <a:pt x="123481" y="0"/>
                  </a:lnTo>
                  <a:cubicBezTo>
                    <a:pt x="55285" y="0"/>
                    <a:pt x="0" y="55254"/>
                    <a:pt x="0" y="123412"/>
                  </a:cubicBezTo>
                  <a:lnTo>
                    <a:pt x="0" y="197453"/>
                  </a:lnTo>
                  <a:cubicBezTo>
                    <a:pt x="0" y="265612"/>
                    <a:pt x="55285" y="320865"/>
                    <a:pt x="123481" y="320865"/>
                  </a:cubicBezTo>
                  <a:lnTo>
                    <a:pt x="852007" y="320865"/>
                  </a:lnTo>
                  <a:close/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9" name="Shape 895"/>
            <p:cNvSpPr/>
            <p:nvPr/>
          </p:nvSpPr>
          <p:spPr>
            <a:xfrm>
              <a:off x="2981575" y="1128239"/>
              <a:ext cx="716634" cy="370621"/>
            </a:xfrm>
            <a:custGeom>
              <a:avLst/>
              <a:gdLst/>
              <a:ahLst/>
              <a:cxnLst/>
              <a:rect l="0" t="0" r="0" b="0"/>
              <a:pathLst>
                <a:path w="716183" h="370229">
                  <a:moveTo>
                    <a:pt x="592701" y="370229"/>
                  </a:moveTo>
                  <a:cubicBezTo>
                    <a:pt x="660898" y="370229"/>
                    <a:pt x="716183" y="314975"/>
                    <a:pt x="716183" y="246817"/>
                  </a:cubicBezTo>
                  <a:lnTo>
                    <a:pt x="716183" y="246817"/>
                  </a:lnTo>
                  <a:lnTo>
                    <a:pt x="716183" y="123412"/>
                  </a:lnTo>
                  <a:cubicBezTo>
                    <a:pt x="716183" y="55254"/>
                    <a:pt x="660898" y="0"/>
                    <a:pt x="592701" y="0"/>
                  </a:cubicBezTo>
                  <a:lnTo>
                    <a:pt x="592701" y="0"/>
                  </a:lnTo>
                  <a:lnTo>
                    <a:pt x="123481" y="0"/>
                  </a:lnTo>
                  <a:cubicBezTo>
                    <a:pt x="55285" y="0"/>
                    <a:pt x="0" y="55254"/>
                    <a:pt x="0" y="123412"/>
                  </a:cubicBezTo>
                  <a:lnTo>
                    <a:pt x="0" y="123412"/>
                  </a:lnTo>
                  <a:lnTo>
                    <a:pt x="0" y="246817"/>
                  </a:lnTo>
                  <a:cubicBezTo>
                    <a:pt x="0" y="314975"/>
                    <a:pt x="55285" y="370229"/>
                    <a:pt x="123481" y="370229"/>
                  </a:cubicBezTo>
                  <a:lnTo>
                    <a:pt x="592701" y="370229"/>
                  </a:lnTo>
                  <a:close/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0" name="Shape 897"/>
            <p:cNvSpPr/>
            <p:nvPr/>
          </p:nvSpPr>
          <p:spPr>
            <a:xfrm>
              <a:off x="3988783" y="1042910"/>
              <a:ext cx="554731" cy="122391"/>
            </a:xfrm>
            <a:custGeom>
              <a:avLst/>
              <a:gdLst/>
              <a:ahLst/>
              <a:cxnLst/>
              <a:rect l="0" t="0" r="0" b="0"/>
              <a:pathLst>
                <a:path w="555660" h="123412">
                  <a:moveTo>
                    <a:pt x="493919" y="123412"/>
                  </a:moveTo>
                  <a:cubicBezTo>
                    <a:pt x="528014" y="123412"/>
                    <a:pt x="555660" y="95788"/>
                    <a:pt x="555660" y="61706"/>
                  </a:cubicBezTo>
                  <a:cubicBezTo>
                    <a:pt x="555660" y="27630"/>
                    <a:pt x="528014" y="0"/>
                    <a:pt x="493919" y="0"/>
                  </a:cubicBezTo>
                  <a:lnTo>
                    <a:pt x="61741" y="0"/>
                  </a:lnTo>
                  <a:cubicBezTo>
                    <a:pt x="27646" y="0"/>
                    <a:pt x="0" y="27630"/>
                    <a:pt x="0" y="61706"/>
                  </a:cubicBezTo>
                  <a:cubicBezTo>
                    <a:pt x="0" y="95788"/>
                    <a:pt x="27646" y="123412"/>
                    <a:pt x="61741" y="123412"/>
                  </a:cubicBezTo>
                  <a:lnTo>
                    <a:pt x="493919" y="123412"/>
                  </a:lnTo>
                  <a:close/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1" name="Rectangle 88265"/>
            <p:cNvSpPr>
              <a:spLocks noChangeArrowheads="1"/>
            </p:cNvSpPr>
            <p:nvPr/>
          </p:nvSpPr>
          <p:spPr bwMode="auto">
            <a:xfrm>
              <a:off x="0" y="2690791"/>
              <a:ext cx="66778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1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2" name="Rectangle 88266"/>
            <p:cNvSpPr>
              <a:spLocks noChangeArrowheads="1"/>
            </p:cNvSpPr>
            <p:nvPr/>
          </p:nvSpPr>
          <p:spPr bwMode="auto">
            <a:xfrm>
              <a:off x="49577" y="2690791"/>
              <a:ext cx="63743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3" name="Rectangle 899"/>
            <p:cNvSpPr>
              <a:spLocks noChangeArrowheads="1"/>
            </p:cNvSpPr>
            <p:nvPr/>
          </p:nvSpPr>
          <p:spPr bwMode="auto">
            <a:xfrm>
              <a:off x="97131" y="2706384"/>
              <a:ext cx="313652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电源键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4" name="Rectangle 88267"/>
            <p:cNvSpPr>
              <a:spLocks noChangeArrowheads="1"/>
            </p:cNvSpPr>
            <p:nvPr/>
          </p:nvSpPr>
          <p:spPr bwMode="auto">
            <a:xfrm>
              <a:off x="466431" y="2692740"/>
              <a:ext cx="65766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2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5" name="Rectangle 88268"/>
            <p:cNvSpPr>
              <a:spLocks noChangeArrowheads="1"/>
            </p:cNvSpPr>
            <p:nvPr/>
          </p:nvSpPr>
          <p:spPr bwMode="auto">
            <a:xfrm>
              <a:off x="516009" y="2692740"/>
              <a:ext cx="549397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USB Host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6" name="Rectangle 88269"/>
            <p:cNvSpPr>
              <a:spLocks noChangeArrowheads="1"/>
            </p:cNvSpPr>
            <p:nvPr/>
          </p:nvSpPr>
          <p:spPr bwMode="auto">
            <a:xfrm>
              <a:off x="1355788" y="2690791"/>
              <a:ext cx="66778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3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7" name="Rectangle 88270"/>
            <p:cNvSpPr>
              <a:spLocks noChangeArrowheads="1"/>
            </p:cNvSpPr>
            <p:nvPr/>
          </p:nvSpPr>
          <p:spPr bwMode="auto">
            <a:xfrm>
              <a:off x="1405365" y="2690791"/>
              <a:ext cx="63743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8" name="Rectangle 902"/>
            <p:cNvSpPr>
              <a:spLocks noChangeArrowheads="1"/>
            </p:cNvSpPr>
            <p:nvPr/>
          </p:nvSpPr>
          <p:spPr bwMode="auto">
            <a:xfrm>
              <a:off x="1452919" y="2706384"/>
              <a:ext cx="418878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菜单软键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9" name="Rectangle 88272"/>
            <p:cNvSpPr>
              <a:spLocks noChangeArrowheads="1"/>
            </p:cNvSpPr>
            <p:nvPr/>
          </p:nvSpPr>
          <p:spPr bwMode="auto">
            <a:xfrm>
              <a:off x="1961845" y="2694689"/>
              <a:ext cx="62730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0" name="Rectangle 88271"/>
            <p:cNvSpPr>
              <a:spLocks noChangeArrowheads="1"/>
            </p:cNvSpPr>
            <p:nvPr/>
          </p:nvSpPr>
          <p:spPr bwMode="auto">
            <a:xfrm>
              <a:off x="1911256" y="2694689"/>
              <a:ext cx="66778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4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1" name="Rectangle 904"/>
            <p:cNvSpPr>
              <a:spLocks noChangeArrowheads="1"/>
            </p:cNvSpPr>
            <p:nvPr/>
          </p:nvSpPr>
          <p:spPr bwMode="auto">
            <a:xfrm>
              <a:off x="2009399" y="2711257"/>
              <a:ext cx="417866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菜单翻页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2" name="Rectangle 88273"/>
            <p:cNvSpPr>
              <a:spLocks noChangeArrowheads="1"/>
            </p:cNvSpPr>
            <p:nvPr/>
          </p:nvSpPr>
          <p:spPr bwMode="auto">
            <a:xfrm>
              <a:off x="2363523" y="2694689"/>
              <a:ext cx="66778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5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3" name="Rectangle 88275"/>
            <p:cNvSpPr>
              <a:spLocks noChangeArrowheads="1"/>
            </p:cNvSpPr>
            <p:nvPr/>
          </p:nvSpPr>
          <p:spPr bwMode="auto">
            <a:xfrm>
              <a:off x="2414112" y="2694689"/>
              <a:ext cx="211462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CH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4" name="Rectangle 88274"/>
            <p:cNvSpPr>
              <a:spLocks noChangeArrowheads="1"/>
            </p:cNvSpPr>
            <p:nvPr/>
          </p:nvSpPr>
          <p:spPr bwMode="auto">
            <a:xfrm>
              <a:off x="2572961" y="2694689"/>
              <a:ext cx="66778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1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5" name="Rectangle 906"/>
            <p:cNvSpPr>
              <a:spLocks noChangeArrowheads="1"/>
            </p:cNvSpPr>
            <p:nvPr/>
          </p:nvSpPr>
          <p:spPr bwMode="auto">
            <a:xfrm>
              <a:off x="2623550" y="2711257"/>
              <a:ext cx="313652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输出端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6" name="Rectangle 88281"/>
            <p:cNvSpPr>
              <a:spLocks noChangeArrowheads="1"/>
            </p:cNvSpPr>
            <p:nvPr/>
          </p:nvSpPr>
          <p:spPr bwMode="auto">
            <a:xfrm>
              <a:off x="2371617" y="2813587"/>
              <a:ext cx="65766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6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7" name="Rectangle 88283"/>
            <p:cNvSpPr>
              <a:spLocks noChangeArrowheads="1"/>
            </p:cNvSpPr>
            <p:nvPr/>
          </p:nvSpPr>
          <p:spPr bwMode="auto">
            <a:xfrm>
              <a:off x="2421194" y="2813587"/>
              <a:ext cx="212474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CH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8" name="Rectangle 88282"/>
            <p:cNvSpPr>
              <a:spLocks noChangeArrowheads="1"/>
            </p:cNvSpPr>
            <p:nvPr/>
          </p:nvSpPr>
          <p:spPr bwMode="auto">
            <a:xfrm>
              <a:off x="2581055" y="2813587"/>
              <a:ext cx="66778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1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9" name="Rectangle 908"/>
            <p:cNvSpPr>
              <a:spLocks noChangeArrowheads="1"/>
            </p:cNvSpPr>
            <p:nvPr/>
          </p:nvSpPr>
          <p:spPr bwMode="auto">
            <a:xfrm>
              <a:off x="2630633" y="2830154"/>
              <a:ext cx="523091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同步输出端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0" name="Shape 909"/>
            <p:cNvSpPr/>
            <p:nvPr/>
          </p:nvSpPr>
          <p:spPr>
            <a:xfrm>
              <a:off x="3007139" y="2851194"/>
              <a:ext cx="123557" cy="0"/>
            </a:xfrm>
            <a:custGeom>
              <a:avLst/>
              <a:gdLst/>
              <a:ahLst/>
              <a:cxnLst/>
              <a:rect l="0" t="0" r="0" b="0"/>
              <a:pathLst>
                <a:path w="123481">
                  <a:moveTo>
                    <a:pt x="123481" y="0"/>
                  </a:move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1" name="Rectangle 88277"/>
            <p:cNvSpPr>
              <a:spLocks noChangeArrowheads="1"/>
            </p:cNvSpPr>
            <p:nvPr/>
          </p:nvSpPr>
          <p:spPr bwMode="auto">
            <a:xfrm>
              <a:off x="3659615" y="2694689"/>
              <a:ext cx="66778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2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2" name="Rectangle 88276"/>
            <p:cNvSpPr>
              <a:spLocks noChangeArrowheads="1"/>
            </p:cNvSpPr>
            <p:nvPr/>
          </p:nvSpPr>
          <p:spPr bwMode="auto">
            <a:xfrm>
              <a:off x="3450176" y="2694689"/>
              <a:ext cx="66778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7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3" name="Rectangle 88278"/>
            <p:cNvSpPr>
              <a:spLocks noChangeArrowheads="1"/>
            </p:cNvSpPr>
            <p:nvPr/>
          </p:nvSpPr>
          <p:spPr bwMode="auto">
            <a:xfrm>
              <a:off x="3500765" y="2694689"/>
              <a:ext cx="211462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CH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4" name="Rectangle 911"/>
            <p:cNvSpPr>
              <a:spLocks noChangeArrowheads="1"/>
            </p:cNvSpPr>
            <p:nvPr/>
          </p:nvSpPr>
          <p:spPr bwMode="auto">
            <a:xfrm>
              <a:off x="3710204" y="2711257"/>
              <a:ext cx="313652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输出端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5" name="Rectangle 88284"/>
            <p:cNvSpPr>
              <a:spLocks noChangeArrowheads="1"/>
            </p:cNvSpPr>
            <p:nvPr/>
          </p:nvSpPr>
          <p:spPr bwMode="auto">
            <a:xfrm>
              <a:off x="3446129" y="2813587"/>
              <a:ext cx="65766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8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6" name="Rectangle 88286"/>
            <p:cNvSpPr>
              <a:spLocks noChangeArrowheads="1"/>
            </p:cNvSpPr>
            <p:nvPr/>
          </p:nvSpPr>
          <p:spPr bwMode="auto">
            <a:xfrm>
              <a:off x="3495706" y="2813587"/>
              <a:ext cx="212474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CH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7" name="Rectangle 88285"/>
            <p:cNvSpPr>
              <a:spLocks noChangeArrowheads="1"/>
            </p:cNvSpPr>
            <p:nvPr/>
          </p:nvSpPr>
          <p:spPr bwMode="auto">
            <a:xfrm>
              <a:off x="3655568" y="2813587"/>
              <a:ext cx="66778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2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8" name="Rectangle 913"/>
            <p:cNvSpPr>
              <a:spLocks noChangeArrowheads="1"/>
            </p:cNvSpPr>
            <p:nvPr/>
          </p:nvSpPr>
          <p:spPr bwMode="auto">
            <a:xfrm>
              <a:off x="3705145" y="2830154"/>
              <a:ext cx="523091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同步输出端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9" name="Shape 914"/>
            <p:cNvSpPr/>
            <p:nvPr/>
          </p:nvSpPr>
          <p:spPr>
            <a:xfrm>
              <a:off x="4044171" y="2851194"/>
              <a:ext cx="123558" cy="0"/>
            </a:xfrm>
            <a:custGeom>
              <a:avLst/>
              <a:gdLst/>
              <a:ahLst/>
              <a:cxnLst/>
              <a:rect l="0" t="0" r="0" b="0"/>
              <a:pathLst>
                <a:path w="123481">
                  <a:moveTo>
                    <a:pt x="123481" y="0"/>
                  </a:move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0" name="Rectangle 88280"/>
            <p:cNvSpPr>
              <a:spLocks noChangeArrowheads="1"/>
            </p:cNvSpPr>
            <p:nvPr/>
          </p:nvSpPr>
          <p:spPr bwMode="auto">
            <a:xfrm>
              <a:off x="4304120" y="2674223"/>
              <a:ext cx="62730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1" name="Rectangle 88279"/>
            <p:cNvSpPr>
              <a:spLocks noChangeArrowheads="1"/>
            </p:cNvSpPr>
            <p:nvPr/>
          </p:nvSpPr>
          <p:spPr bwMode="auto">
            <a:xfrm>
              <a:off x="4203953" y="2674223"/>
              <a:ext cx="133555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10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2" name="Rectangle 916"/>
            <p:cNvSpPr>
              <a:spLocks noChangeArrowheads="1"/>
            </p:cNvSpPr>
            <p:nvPr/>
          </p:nvSpPr>
          <p:spPr bwMode="auto">
            <a:xfrm>
              <a:off x="4351674" y="2690791"/>
              <a:ext cx="313652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频率计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3" name="Rectangle 88288"/>
            <p:cNvSpPr>
              <a:spLocks noChangeArrowheads="1"/>
            </p:cNvSpPr>
            <p:nvPr/>
          </p:nvSpPr>
          <p:spPr bwMode="auto">
            <a:xfrm>
              <a:off x="4308167" y="2813587"/>
              <a:ext cx="62730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4" name="Rectangle 88287"/>
            <p:cNvSpPr>
              <a:spLocks noChangeArrowheads="1"/>
            </p:cNvSpPr>
            <p:nvPr/>
          </p:nvSpPr>
          <p:spPr bwMode="auto">
            <a:xfrm>
              <a:off x="4208001" y="2813587"/>
              <a:ext cx="132544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11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5" name="Rectangle 918"/>
            <p:cNvSpPr>
              <a:spLocks noChangeArrowheads="1"/>
            </p:cNvSpPr>
            <p:nvPr/>
          </p:nvSpPr>
          <p:spPr bwMode="auto">
            <a:xfrm>
              <a:off x="4354709" y="2830154"/>
              <a:ext cx="418878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数字键盘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6" name="Shape 919"/>
            <p:cNvSpPr/>
            <p:nvPr/>
          </p:nvSpPr>
          <p:spPr>
            <a:xfrm>
              <a:off x="228369" y="2284058"/>
              <a:ext cx="281200" cy="0"/>
            </a:xfrm>
            <a:custGeom>
              <a:avLst/>
              <a:gdLst/>
              <a:ahLst/>
              <a:cxnLst/>
              <a:rect l="0" t="0" r="0" b="0"/>
              <a:pathLst>
                <a:path w="281312">
                  <a:moveTo>
                    <a:pt x="281312" y="0"/>
                  </a:move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7" name="Shape 920"/>
            <p:cNvSpPr/>
            <p:nvPr/>
          </p:nvSpPr>
          <p:spPr>
            <a:xfrm>
              <a:off x="501900" y="2251306"/>
              <a:ext cx="97142" cy="65505"/>
            </a:xfrm>
            <a:custGeom>
              <a:avLst/>
              <a:gdLst/>
              <a:ahLst/>
              <a:cxnLst/>
              <a:rect l="0" t="0" r="0" b="0"/>
              <a:pathLst>
                <a:path w="97227" h="64782">
                  <a:moveTo>
                    <a:pt x="0" y="0"/>
                  </a:moveTo>
                  <a:lnTo>
                    <a:pt x="97227" y="32391"/>
                  </a:lnTo>
                  <a:lnTo>
                    <a:pt x="0" y="64782"/>
                  </a:lnTo>
                  <a:lnTo>
                    <a:pt x="0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8" name="Shape 921"/>
            <p:cNvSpPr/>
            <p:nvPr/>
          </p:nvSpPr>
          <p:spPr>
            <a:xfrm>
              <a:off x="846157" y="2309054"/>
              <a:ext cx="151678" cy="0"/>
            </a:xfrm>
            <a:custGeom>
              <a:avLst/>
              <a:gdLst/>
              <a:ahLst/>
              <a:cxnLst/>
              <a:rect l="0" t="0" r="0" b="0"/>
              <a:pathLst>
                <a:path w="151656">
                  <a:moveTo>
                    <a:pt x="151656" y="0"/>
                  </a:move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9" name="Shape 922"/>
            <p:cNvSpPr/>
            <p:nvPr/>
          </p:nvSpPr>
          <p:spPr>
            <a:xfrm>
              <a:off x="989314" y="2276301"/>
              <a:ext cx="97142" cy="64643"/>
            </a:xfrm>
            <a:custGeom>
              <a:avLst/>
              <a:gdLst/>
              <a:ahLst/>
              <a:cxnLst/>
              <a:rect l="0" t="0" r="0" b="0"/>
              <a:pathLst>
                <a:path w="97227" h="64782">
                  <a:moveTo>
                    <a:pt x="0" y="0"/>
                  </a:moveTo>
                  <a:lnTo>
                    <a:pt x="97227" y="32391"/>
                  </a:lnTo>
                  <a:lnTo>
                    <a:pt x="0" y="64782"/>
                  </a:lnTo>
                  <a:lnTo>
                    <a:pt x="0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0" name="Shape 923"/>
            <p:cNvSpPr/>
            <p:nvPr/>
          </p:nvSpPr>
          <p:spPr>
            <a:xfrm>
              <a:off x="2278574" y="1914300"/>
              <a:ext cx="0" cy="793818"/>
            </a:xfrm>
            <a:custGeom>
              <a:avLst/>
              <a:gdLst/>
              <a:ahLst/>
              <a:cxnLst/>
              <a:rect l="0" t="0" r="0" b="0"/>
              <a:pathLst>
                <a:path h="794209">
                  <a:moveTo>
                    <a:pt x="0" y="0"/>
                  </a:moveTo>
                  <a:lnTo>
                    <a:pt x="0" y="167597"/>
                  </a:lnTo>
                  <a:lnTo>
                    <a:pt x="0" y="321101"/>
                  </a:lnTo>
                  <a:lnTo>
                    <a:pt x="0" y="460512"/>
                  </a:lnTo>
                  <a:lnTo>
                    <a:pt x="0" y="585837"/>
                  </a:lnTo>
                  <a:lnTo>
                    <a:pt x="0" y="697069"/>
                  </a:lnTo>
                  <a:lnTo>
                    <a:pt x="0" y="794209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1" name="Shape 924"/>
            <p:cNvSpPr/>
            <p:nvPr/>
          </p:nvSpPr>
          <p:spPr>
            <a:xfrm>
              <a:off x="2204440" y="1198053"/>
              <a:ext cx="0" cy="1332511"/>
            </a:xfrm>
            <a:custGeom>
              <a:avLst/>
              <a:gdLst/>
              <a:ahLst/>
              <a:cxnLst/>
              <a:rect l="0" t="0" r="0" b="0"/>
              <a:pathLst>
                <a:path h="1332818">
                  <a:moveTo>
                    <a:pt x="0" y="0"/>
                  </a:moveTo>
                  <a:lnTo>
                    <a:pt x="0" y="242527"/>
                  </a:lnTo>
                  <a:lnTo>
                    <a:pt x="0" y="467676"/>
                  </a:lnTo>
                  <a:lnTo>
                    <a:pt x="0" y="675454"/>
                  </a:lnTo>
                  <a:lnTo>
                    <a:pt x="0" y="865855"/>
                  </a:lnTo>
                  <a:lnTo>
                    <a:pt x="0" y="1038885"/>
                  </a:lnTo>
                  <a:lnTo>
                    <a:pt x="0" y="1194537"/>
                  </a:lnTo>
                  <a:lnTo>
                    <a:pt x="0" y="1332818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2" name="Shape 925"/>
            <p:cNvSpPr/>
            <p:nvPr/>
          </p:nvSpPr>
          <p:spPr>
            <a:xfrm>
              <a:off x="1673567" y="2530564"/>
              <a:ext cx="530872" cy="148248"/>
            </a:xfrm>
            <a:custGeom>
              <a:avLst/>
              <a:gdLst/>
              <a:ahLst/>
              <a:cxnLst/>
              <a:rect l="0" t="0" r="0" b="0"/>
              <a:pathLst>
                <a:path w="530961" h="148090">
                  <a:moveTo>
                    <a:pt x="530961" y="0"/>
                  </a:moveTo>
                  <a:lnTo>
                    <a:pt x="0" y="0"/>
                  </a:lnTo>
                  <a:lnTo>
                    <a:pt x="0" y="14809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3" name="Shape 926"/>
            <p:cNvSpPr/>
            <p:nvPr/>
          </p:nvSpPr>
          <p:spPr>
            <a:xfrm>
              <a:off x="3192049" y="226682"/>
              <a:ext cx="0" cy="206858"/>
            </a:xfrm>
            <a:custGeom>
              <a:avLst/>
              <a:gdLst/>
              <a:ahLst/>
              <a:cxnLst/>
              <a:rect l="0" t="0" r="0" b="0"/>
              <a:pathLst>
                <a:path h="207106">
                  <a:moveTo>
                    <a:pt x="0" y="0"/>
                  </a:moveTo>
                  <a:lnTo>
                    <a:pt x="0" y="66342"/>
                  </a:lnTo>
                  <a:lnTo>
                    <a:pt x="0" y="135375"/>
                  </a:lnTo>
                  <a:lnTo>
                    <a:pt x="0" y="207106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4" name="Shape 927"/>
            <p:cNvSpPr/>
            <p:nvPr/>
          </p:nvSpPr>
          <p:spPr>
            <a:xfrm>
              <a:off x="3159668" y="425783"/>
              <a:ext cx="64761" cy="96534"/>
            </a:xfrm>
            <a:custGeom>
              <a:avLst/>
              <a:gdLst/>
              <a:ahLst/>
              <a:cxnLst/>
              <a:rect l="0" t="0" r="0" b="0"/>
              <a:pathLst>
                <a:path w="64818" h="97173">
                  <a:moveTo>
                    <a:pt x="0" y="0"/>
                  </a:moveTo>
                  <a:lnTo>
                    <a:pt x="64818" y="0"/>
                  </a:lnTo>
                  <a:lnTo>
                    <a:pt x="32409" y="97173"/>
                  </a:lnTo>
                  <a:lnTo>
                    <a:pt x="0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5" name="Shape 928"/>
            <p:cNvSpPr/>
            <p:nvPr/>
          </p:nvSpPr>
          <p:spPr>
            <a:xfrm>
              <a:off x="4320258" y="226682"/>
              <a:ext cx="0" cy="206858"/>
            </a:xfrm>
            <a:custGeom>
              <a:avLst/>
              <a:gdLst/>
              <a:ahLst/>
              <a:cxnLst/>
              <a:rect l="0" t="0" r="0" b="0"/>
              <a:pathLst>
                <a:path h="207106">
                  <a:moveTo>
                    <a:pt x="0" y="0"/>
                  </a:moveTo>
                  <a:lnTo>
                    <a:pt x="0" y="66342"/>
                  </a:lnTo>
                  <a:lnTo>
                    <a:pt x="0" y="135375"/>
                  </a:lnTo>
                  <a:lnTo>
                    <a:pt x="0" y="207106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6" name="Shape 929"/>
            <p:cNvSpPr/>
            <p:nvPr/>
          </p:nvSpPr>
          <p:spPr>
            <a:xfrm>
              <a:off x="4287878" y="425783"/>
              <a:ext cx="64761" cy="96534"/>
            </a:xfrm>
            <a:custGeom>
              <a:avLst/>
              <a:gdLst/>
              <a:ahLst/>
              <a:cxnLst/>
              <a:rect l="0" t="0" r="0" b="0"/>
              <a:pathLst>
                <a:path w="64818" h="97173">
                  <a:moveTo>
                    <a:pt x="0" y="0"/>
                  </a:moveTo>
                  <a:lnTo>
                    <a:pt x="64818" y="0"/>
                  </a:lnTo>
                  <a:lnTo>
                    <a:pt x="32409" y="97173"/>
                  </a:lnTo>
                  <a:lnTo>
                    <a:pt x="0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7" name="Shape 930"/>
            <p:cNvSpPr/>
            <p:nvPr/>
          </p:nvSpPr>
          <p:spPr>
            <a:xfrm>
              <a:off x="4056100" y="226682"/>
              <a:ext cx="22155" cy="737794"/>
            </a:xfrm>
            <a:custGeom>
              <a:avLst/>
              <a:gdLst/>
              <a:ahLst/>
              <a:cxnLst/>
              <a:rect l="0" t="0" r="0" b="0"/>
              <a:pathLst>
                <a:path w="22039" h="737806">
                  <a:moveTo>
                    <a:pt x="0" y="0"/>
                  </a:moveTo>
                  <a:lnTo>
                    <a:pt x="5208" y="174414"/>
                  </a:lnTo>
                  <a:lnTo>
                    <a:pt x="10618" y="355522"/>
                  </a:lnTo>
                  <a:lnTo>
                    <a:pt x="16231" y="543317"/>
                  </a:lnTo>
                  <a:lnTo>
                    <a:pt x="22039" y="737806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8" name="Shape 931"/>
            <p:cNvSpPr/>
            <p:nvPr/>
          </p:nvSpPr>
          <p:spPr>
            <a:xfrm>
              <a:off x="4045875" y="955857"/>
              <a:ext cx="64761" cy="98258"/>
            </a:xfrm>
            <a:custGeom>
              <a:avLst/>
              <a:gdLst/>
              <a:ahLst/>
              <a:cxnLst/>
              <a:rect l="0" t="0" r="0" b="0"/>
              <a:pathLst>
                <a:path w="64792" h="98093">
                  <a:moveTo>
                    <a:pt x="64792" y="0"/>
                  </a:moveTo>
                  <a:lnTo>
                    <a:pt x="35297" y="98093"/>
                  </a:lnTo>
                  <a:lnTo>
                    <a:pt x="0" y="1933"/>
                  </a:lnTo>
                  <a:lnTo>
                    <a:pt x="64792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9" name="Shape 933"/>
            <p:cNvSpPr/>
            <p:nvPr/>
          </p:nvSpPr>
          <p:spPr>
            <a:xfrm>
              <a:off x="2969645" y="1535921"/>
              <a:ext cx="716634" cy="506802"/>
            </a:xfrm>
            <a:custGeom>
              <a:avLst/>
              <a:gdLst/>
              <a:ahLst/>
              <a:cxnLst/>
              <a:rect l="0" t="0" r="0" b="0"/>
              <a:pathLst>
                <a:path w="716183" h="505976">
                  <a:moveTo>
                    <a:pt x="592701" y="505976"/>
                  </a:moveTo>
                  <a:cubicBezTo>
                    <a:pt x="660898" y="505976"/>
                    <a:pt x="716183" y="450723"/>
                    <a:pt x="716183" y="382565"/>
                  </a:cubicBezTo>
                  <a:lnTo>
                    <a:pt x="716183" y="382565"/>
                  </a:lnTo>
                  <a:lnTo>
                    <a:pt x="716183" y="123405"/>
                  </a:lnTo>
                  <a:cubicBezTo>
                    <a:pt x="716183" y="55247"/>
                    <a:pt x="660898" y="0"/>
                    <a:pt x="592701" y="0"/>
                  </a:cubicBezTo>
                  <a:lnTo>
                    <a:pt x="123482" y="0"/>
                  </a:lnTo>
                  <a:cubicBezTo>
                    <a:pt x="55285" y="0"/>
                    <a:pt x="0" y="55247"/>
                    <a:pt x="0" y="123405"/>
                  </a:cubicBezTo>
                  <a:lnTo>
                    <a:pt x="0" y="123405"/>
                  </a:lnTo>
                  <a:lnTo>
                    <a:pt x="0" y="382565"/>
                  </a:lnTo>
                  <a:cubicBezTo>
                    <a:pt x="0" y="450723"/>
                    <a:pt x="55285" y="505976"/>
                    <a:pt x="123482" y="505976"/>
                  </a:cubicBezTo>
                  <a:lnTo>
                    <a:pt x="123482" y="505976"/>
                  </a:lnTo>
                  <a:lnTo>
                    <a:pt x="592701" y="505976"/>
                  </a:lnTo>
                  <a:lnTo>
                    <a:pt x="592701" y="505976"/>
                  </a:lnTo>
                  <a:close/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0" name="Shape 934"/>
            <p:cNvSpPr/>
            <p:nvPr/>
          </p:nvSpPr>
          <p:spPr>
            <a:xfrm>
              <a:off x="3290043" y="2139257"/>
              <a:ext cx="0" cy="840361"/>
            </a:xfrm>
            <a:custGeom>
              <a:avLst/>
              <a:gdLst/>
              <a:ahLst/>
              <a:cxnLst/>
              <a:rect l="0" t="0" r="0" b="0"/>
              <a:pathLst>
                <a:path h="840060">
                  <a:moveTo>
                    <a:pt x="0" y="0"/>
                  </a:moveTo>
                  <a:lnTo>
                    <a:pt x="0" y="175348"/>
                  </a:lnTo>
                  <a:lnTo>
                    <a:pt x="0" y="336564"/>
                  </a:lnTo>
                  <a:lnTo>
                    <a:pt x="0" y="483643"/>
                  </a:lnTo>
                  <a:lnTo>
                    <a:pt x="0" y="616582"/>
                  </a:lnTo>
                  <a:lnTo>
                    <a:pt x="0" y="735390"/>
                  </a:lnTo>
                  <a:lnTo>
                    <a:pt x="0" y="84006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1" name="Shape 935"/>
            <p:cNvSpPr/>
            <p:nvPr/>
          </p:nvSpPr>
          <p:spPr>
            <a:xfrm>
              <a:off x="3257662" y="2050481"/>
              <a:ext cx="66466" cy="97395"/>
            </a:xfrm>
            <a:custGeom>
              <a:avLst/>
              <a:gdLst/>
              <a:ahLst/>
              <a:cxnLst/>
              <a:rect l="0" t="0" r="0" b="0"/>
              <a:pathLst>
                <a:path w="64818" h="97173">
                  <a:moveTo>
                    <a:pt x="32409" y="0"/>
                  </a:moveTo>
                  <a:lnTo>
                    <a:pt x="64818" y="97173"/>
                  </a:lnTo>
                  <a:lnTo>
                    <a:pt x="0" y="97173"/>
                  </a:lnTo>
                  <a:lnTo>
                    <a:pt x="32409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2" name="Shape 936"/>
            <p:cNvSpPr/>
            <p:nvPr/>
          </p:nvSpPr>
          <p:spPr>
            <a:xfrm>
              <a:off x="3290043" y="2979619"/>
              <a:ext cx="124410" cy="0"/>
            </a:xfrm>
            <a:custGeom>
              <a:avLst/>
              <a:gdLst/>
              <a:ahLst/>
              <a:cxnLst/>
              <a:rect l="0" t="0" r="0" b="0"/>
              <a:pathLst>
                <a:path w="123481">
                  <a:moveTo>
                    <a:pt x="123481" y="0"/>
                  </a:move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3" name="Rectangle 88289"/>
            <p:cNvSpPr>
              <a:spLocks noChangeArrowheads="1"/>
            </p:cNvSpPr>
            <p:nvPr/>
          </p:nvSpPr>
          <p:spPr bwMode="auto">
            <a:xfrm>
              <a:off x="3453211" y="2916891"/>
              <a:ext cx="65766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9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4" name="Rectangle 88290"/>
            <p:cNvSpPr>
              <a:spLocks noChangeArrowheads="1"/>
            </p:cNvSpPr>
            <p:nvPr/>
          </p:nvSpPr>
          <p:spPr bwMode="auto">
            <a:xfrm>
              <a:off x="3502789" y="2916891"/>
              <a:ext cx="62730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5" name="Rectangle 938"/>
            <p:cNvSpPr>
              <a:spLocks noChangeArrowheads="1"/>
            </p:cNvSpPr>
            <p:nvPr/>
          </p:nvSpPr>
          <p:spPr bwMode="auto">
            <a:xfrm>
              <a:off x="3550342" y="2933459"/>
              <a:ext cx="523092" cy="103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通道控制区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6" name="Rectangle 88264"/>
            <p:cNvSpPr>
              <a:spLocks noChangeArrowheads="1"/>
            </p:cNvSpPr>
            <p:nvPr/>
          </p:nvSpPr>
          <p:spPr bwMode="auto">
            <a:xfrm>
              <a:off x="4377980" y="136440"/>
              <a:ext cx="63743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7" name="Rectangle 88263"/>
            <p:cNvSpPr>
              <a:spLocks noChangeArrowheads="1"/>
            </p:cNvSpPr>
            <p:nvPr/>
          </p:nvSpPr>
          <p:spPr bwMode="auto">
            <a:xfrm>
              <a:off x="4278825" y="136440"/>
              <a:ext cx="132544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12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8" name="Rectangle 940"/>
            <p:cNvSpPr>
              <a:spLocks noChangeArrowheads="1"/>
            </p:cNvSpPr>
            <p:nvPr/>
          </p:nvSpPr>
          <p:spPr bwMode="auto">
            <a:xfrm>
              <a:off x="4425534" y="153008"/>
              <a:ext cx="209439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旋钮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9" name="Rectangle 88261"/>
            <p:cNvSpPr>
              <a:spLocks noChangeArrowheads="1"/>
            </p:cNvSpPr>
            <p:nvPr/>
          </p:nvSpPr>
          <p:spPr bwMode="auto">
            <a:xfrm>
              <a:off x="3815429" y="127669"/>
              <a:ext cx="132544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13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0" name="Rectangle 88262"/>
            <p:cNvSpPr>
              <a:spLocks noChangeArrowheads="1"/>
            </p:cNvSpPr>
            <p:nvPr/>
          </p:nvSpPr>
          <p:spPr bwMode="auto">
            <a:xfrm>
              <a:off x="3914584" y="127669"/>
              <a:ext cx="63743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1" name="Rectangle 942"/>
            <p:cNvSpPr>
              <a:spLocks noChangeArrowheads="1"/>
            </p:cNvSpPr>
            <p:nvPr/>
          </p:nvSpPr>
          <p:spPr bwMode="auto">
            <a:xfrm>
              <a:off x="3962138" y="144237"/>
              <a:ext cx="313652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方向键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2" name="Shape 944"/>
            <p:cNvSpPr/>
            <p:nvPr/>
          </p:nvSpPr>
          <p:spPr>
            <a:xfrm>
              <a:off x="2995209" y="907590"/>
              <a:ext cx="714930" cy="135319"/>
            </a:xfrm>
            <a:custGeom>
              <a:avLst/>
              <a:gdLst/>
              <a:ahLst/>
              <a:cxnLst/>
              <a:rect l="0" t="0" r="0" b="0"/>
              <a:pathLst>
                <a:path w="716183" h="135748">
                  <a:moveTo>
                    <a:pt x="648267" y="135748"/>
                  </a:moveTo>
                  <a:cubicBezTo>
                    <a:pt x="685773" y="135748"/>
                    <a:pt x="716183" y="105362"/>
                    <a:pt x="716183" y="67871"/>
                  </a:cubicBezTo>
                  <a:cubicBezTo>
                    <a:pt x="716183" y="30386"/>
                    <a:pt x="685773" y="0"/>
                    <a:pt x="648267" y="0"/>
                  </a:cubicBezTo>
                  <a:lnTo>
                    <a:pt x="67916" y="0"/>
                  </a:lnTo>
                  <a:cubicBezTo>
                    <a:pt x="30410" y="0"/>
                    <a:pt x="0" y="30386"/>
                    <a:pt x="0" y="67871"/>
                  </a:cubicBezTo>
                  <a:cubicBezTo>
                    <a:pt x="0" y="105362"/>
                    <a:pt x="30410" y="135748"/>
                    <a:pt x="67916" y="135748"/>
                  </a:cubicBezTo>
                  <a:lnTo>
                    <a:pt x="648267" y="135748"/>
                  </a:lnTo>
                  <a:close/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3" name="Shape 945"/>
            <p:cNvSpPr/>
            <p:nvPr/>
          </p:nvSpPr>
          <p:spPr>
            <a:xfrm>
              <a:off x="2673107" y="782613"/>
              <a:ext cx="0" cy="938619"/>
            </a:xfrm>
            <a:custGeom>
              <a:avLst/>
              <a:gdLst/>
              <a:ahLst/>
              <a:cxnLst/>
              <a:rect l="0" t="0" r="0" b="0"/>
              <a:pathLst>
                <a:path h="937911">
                  <a:moveTo>
                    <a:pt x="0" y="0"/>
                  </a:moveTo>
                  <a:lnTo>
                    <a:pt x="0" y="197924"/>
                  </a:lnTo>
                  <a:lnTo>
                    <a:pt x="0" y="379202"/>
                  </a:lnTo>
                  <a:lnTo>
                    <a:pt x="0" y="543840"/>
                  </a:lnTo>
                  <a:lnTo>
                    <a:pt x="0" y="691839"/>
                  </a:lnTo>
                  <a:lnTo>
                    <a:pt x="0" y="823198"/>
                  </a:lnTo>
                  <a:lnTo>
                    <a:pt x="0" y="937911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4" name="Shape 946"/>
            <p:cNvSpPr/>
            <p:nvPr/>
          </p:nvSpPr>
          <p:spPr>
            <a:xfrm>
              <a:off x="2673107" y="782613"/>
              <a:ext cx="123557" cy="0"/>
            </a:xfrm>
            <a:custGeom>
              <a:avLst/>
              <a:gdLst/>
              <a:ahLst/>
              <a:cxnLst/>
              <a:rect l="0" t="0" r="0" b="0"/>
              <a:pathLst>
                <a:path w="123481">
                  <a:moveTo>
                    <a:pt x="123481" y="0"/>
                  </a:move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5" name="Shape 947"/>
            <p:cNvSpPr/>
            <p:nvPr/>
          </p:nvSpPr>
          <p:spPr>
            <a:xfrm>
              <a:off x="2673107" y="1721232"/>
              <a:ext cx="123557" cy="0"/>
            </a:xfrm>
            <a:custGeom>
              <a:avLst/>
              <a:gdLst/>
              <a:ahLst/>
              <a:cxnLst/>
              <a:rect l="0" t="0" r="0" b="0"/>
              <a:pathLst>
                <a:path w="123481">
                  <a:moveTo>
                    <a:pt x="123481" y="0"/>
                  </a:move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66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6" name="Shape 948"/>
            <p:cNvSpPr/>
            <p:nvPr/>
          </p:nvSpPr>
          <p:spPr>
            <a:xfrm>
              <a:off x="2575112" y="186172"/>
              <a:ext cx="196840" cy="0"/>
            </a:xfrm>
            <a:custGeom>
              <a:avLst/>
              <a:gdLst/>
              <a:ahLst/>
              <a:cxnLst/>
              <a:rect l="0" t="0" r="0" b="0"/>
              <a:pathLst>
                <a:path w="197565">
                  <a:moveTo>
                    <a:pt x="197565" y="0"/>
                  </a:move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7" name="Shape 949"/>
            <p:cNvSpPr/>
            <p:nvPr/>
          </p:nvSpPr>
          <p:spPr>
            <a:xfrm>
              <a:off x="2883581" y="1297173"/>
              <a:ext cx="34085" cy="0"/>
            </a:xfrm>
            <a:custGeom>
              <a:avLst/>
              <a:gdLst/>
              <a:ahLst/>
              <a:cxnLst/>
              <a:rect l="0" t="0" r="0" b="0"/>
              <a:pathLst>
                <a:path w="34356">
                  <a:moveTo>
                    <a:pt x="34356" y="0"/>
                  </a:move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8" name="Shape 950"/>
            <p:cNvSpPr/>
            <p:nvPr/>
          </p:nvSpPr>
          <p:spPr>
            <a:xfrm>
              <a:off x="2909997" y="1264420"/>
              <a:ext cx="97142" cy="64643"/>
            </a:xfrm>
            <a:custGeom>
              <a:avLst/>
              <a:gdLst/>
              <a:ahLst/>
              <a:cxnLst/>
              <a:rect l="0" t="0" r="0" b="0"/>
              <a:pathLst>
                <a:path w="97227" h="64782">
                  <a:moveTo>
                    <a:pt x="0" y="0"/>
                  </a:moveTo>
                  <a:lnTo>
                    <a:pt x="97227" y="32391"/>
                  </a:lnTo>
                  <a:lnTo>
                    <a:pt x="0" y="64782"/>
                  </a:lnTo>
                  <a:lnTo>
                    <a:pt x="0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9" name="Shape 951"/>
            <p:cNvSpPr/>
            <p:nvPr/>
          </p:nvSpPr>
          <p:spPr>
            <a:xfrm>
              <a:off x="2883581" y="62057"/>
              <a:ext cx="0" cy="1235115"/>
            </a:xfrm>
            <a:custGeom>
              <a:avLst/>
              <a:gdLst/>
              <a:ahLst/>
              <a:cxnLst/>
              <a:rect l="0" t="0" r="0" b="0"/>
              <a:pathLst>
                <a:path h="1234092">
                  <a:moveTo>
                    <a:pt x="0" y="0"/>
                  </a:moveTo>
                  <a:lnTo>
                    <a:pt x="0" y="224561"/>
                  </a:lnTo>
                  <a:lnTo>
                    <a:pt x="0" y="433032"/>
                  </a:lnTo>
                  <a:lnTo>
                    <a:pt x="0" y="625418"/>
                  </a:lnTo>
                  <a:lnTo>
                    <a:pt x="0" y="801719"/>
                  </a:lnTo>
                  <a:lnTo>
                    <a:pt x="0" y="961930"/>
                  </a:lnTo>
                  <a:lnTo>
                    <a:pt x="0" y="1106056"/>
                  </a:lnTo>
                  <a:lnTo>
                    <a:pt x="0" y="1234092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0" name="Shape 952"/>
            <p:cNvSpPr/>
            <p:nvPr/>
          </p:nvSpPr>
          <p:spPr>
            <a:xfrm>
              <a:off x="2933004" y="979990"/>
              <a:ext cx="34937" cy="0"/>
            </a:xfrm>
            <a:custGeom>
              <a:avLst/>
              <a:gdLst/>
              <a:ahLst/>
              <a:cxnLst/>
              <a:rect l="0" t="0" r="0" b="0"/>
              <a:pathLst>
                <a:path w="34356">
                  <a:moveTo>
                    <a:pt x="34356" y="0"/>
                  </a:move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1" name="Shape 953"/>
            <p:cNvSpPr/>
            <p:nvPr/>
          </p:nvSpPr>
          <p:spPr>
            <a:xfrm>
              <a:off x="2958567" y="948100"/>
              <a:ext cx="97994" cy="64643"/>
            </a:xfrm>
            <a:custGeom>
              <a:avLst/>
              <a:gdLst/>
              <a:ahLst/>
              <a:cxnLst/>
              <a:rect l="0" t="0" r="0" b="0"/>
              <a:pathLst>
                <a:path w="97227" h="64782">
                  <a:moveTo>
                    <a:pt x="0" y="0"/>
                  </a:moveTo>
                  <a:lnTo>
                    <a:pt x="97227" y="32391"/>
                  </a:lnTo>
                  <a:lnTo>
                    <a:pt x="0" y="64782"/>
                  </a:lnTo>
                  <a:lnTo>
                    <a:pt x="0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2" name="Shape 954"/>
            <p:cNvSpPr/>
            <p:nvPr/>
          </p:nvSpPr>
          <p:spPr>
            <a:xfrm>
              <a:off x="2920222" y="67229"/>
              <a:ext cx="12782" cy="912762"/>
            </a:xfrm>
            <a:custGeom>
              <a:avLst/>
              <a:gdLst/>
              <a:ahLst/>
              <a:cxnLst/>
              <a:rect l="0" t="0" r="0" b="0"/>
              <a:pathLst>
                <a:path w="12350" h="913233">
                  <a:moveTo>
                    <a:pt x="0" y="0"/>
                  </a:moveTo>
                  <a:lnTo>
                    <a:pt x="2607" y="192712"/>
                  </a:lnTo>
                  <a:lnTo>
                    <a:pt x="4992" y="369223"/>
                  </a:lnTo>
                  <a:lnTo>
                    <a:pt x="7161" y="529532"/>
                  </a:lnTo>
                  <a:lnTo>
                    <a:pt x="9108" y="673632"/>
                  </a:lnTo>
                  <a:lnTo>
                    <a:pt x="10840" y="801530"/>
                  </a:lnTo>
                  <a:lnTo>
                    <a:pt x="12350" y="913233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" name="Shape 955"/>
            <p:cNvSpPr/>
            <p:nvPr/>
          </p:nvSpPr>
          <p:spPr>
            <a:xfrm>
              <a:off x="2561478" y="62057"/>
              <a:ext cx="322102" cy="0"/>
            </a:xfrm>
            <a:custGeom>
              <a:avLst/>
              <a:gdLst/>
              <a:ahLst/>
              <a:cxnLst/>
              <a:rect l="0" t="0" r="0" b="0"/>
              <a:pathLst>
                <a:path w="321046">
                  <a:moveTo>
                    <a:pt x="321046" y="0"/>
                  </a:move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" name="Shape 956"/>
            <p:cNvSpPr/>
            <p:nvPr/>
          </p:nvSpPr>
          <p:spPr>
            <a:xfrm>
              <a:off x="2933004" y="67229"/>
              <a:ext cx="123558" cy="0"/>
            </a:xfrm>
            <a:custGeom>
              <a:avLst/>
              <a:gdLst/>
              <a:ahLst/>
              <a:cxnLst/>
              <a:rect l="0" t="0" r="0" b="0"/>
              <a:pathLst>
                <a:path w="123481">
                  <a:moveTo>
                    <a:pt x="123481" y="0"/>
                  </a:moveTo>
                  <a:lnTo>
                    <a:pt x="0" y="0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5" name="Rectangle 88260"/>
            <p:cNvSpPr>
              <a:spLocks noChangeArrowheads="1"/>
            </p:cNvSpPr>
            <p:nvPr/>
          </p:nvSpPr>
          <p:spPr bwMode="auto">
            <a:xfrm>
              <a:off x="3182054" y="127669"/>
              <a:ext cx="62730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6" name="Rectangle 88259"/>
            <p:cNvSpPr>
              <a:spLocks noChangeArrowheads="1"/>
            </p:cNvSpPr>
            <p:nvPr/>
          </p:nvSpPr>
          <p:spPr bwMode="auto">
            <a:xfrm>
              <a:off x="3081888" y="127669"/>
              <a:ext cx="132543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14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7" name="Rectangle 958"/>
            <p:cNvSpPr>
              <a:spLocks noChangeArrowheads="1"/>
            </p:cNvSpPr>
            <p:nvPr/>
          </p:nvSpPr>
          <p:spPr bwMode="auto">
            <a:xfrm>
              <a:off x="3229608" y="144237"/>
              <a:ext cx="523091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波形选择区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8" name="Rectangle 88253"/>
            <p:cNvSpPr>
              <a:spLocks noChangeArrowheads="1"/>
            </p:cNvSpPr>
            <p:nvPr/>
          </p:nvSpPr>
          <p:spPr bwMode="auto">
            <a:xfrm>
              <a:off x="3081888" y="4873"/>
              <a:ext cx="132543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15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9" name="Rectangle 88254"/>
            <p:cNvSpPr>
              <a:spLocks noChangeArrowheads="1"/>
            </p:cNvSpPr>
            <p:nvPr/>
          </p:nvSpPr>
          <p:spPr bwMode="auto">
            <a:xfrm>
              <a:off x="3182054" y="4873"/>
              <a:ext cx="62730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0" name="Rectangle 960"/>
            <p:cNvSpPr>
              <a:spLocks noChangeArrowheads="1"/>
            </p:cNvSpPr>
            <p:nvPr/>
          </p:nvSpPr>
          <p:spPr bwMode="auto">
            <a:xfrm>
              <a:off x="3229608" y="20466"/>
              <a:ext cx="523091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模式选择区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1" name="Rectangle 88257"/>
            <p:cNvSpPr>
              <a:spLocks noChangeArrowheads="1"/>
            </p:cNvSpPr>
            <p:nvPr/>
          </p:nvSpPr>
          <p:spPr bwMode="auto">
            <a:xfrm>
              <a:off x="1879891" y="107203"/>
              <a:ext cx="132543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16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2" name="Rectangle 88258"/>
            <p:cNvSpPr>
              <a:spLocks noChangeArrowheads="1"/>
            </p:cNvSpPr>
            <p:nvPr/>
          </p:nvSpPr>
          <p:spPr bwMode="auto">
            <a:xfrm>
              <a:off x="1979045" y="107203"/>
              <a:ext cx="63742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3" name="Rectangle 962"/>
            <p:cNvSpPr>
              <a:spLocks noChangeArrowheads="1"/>
            </p:cNvSpPr>
            <p:nvPr/>
          </p:nvSpPr>
          <p:spPr bwMode="auto">
            <a:xfrm>
              <a:off x="2026599" y="123771"/>
              <a:ext cx="732530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返回上一级菜单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4" name="Rectangle 88251"/>
            <p:cNvSpPr>
              <a:spLocks noChangeArrowheads="1"/>
            </p:cNvSpPr>
            <p:nvPr/>
          </p:nvSpPr>
          <p:spPr bwMode="auto">
            <a:xfrm>
              <a:off x="1743300" y="0"/>
              <a:ext cx="132544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17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5" name="Rectangle 88252"/>
            <p:cNvSpPr>
              <a:spLocks noChangeArrowheads="1"/>
            </p:cNvSpPr>
            <p:nvPr/>
          </p:nvSpPr>
          <p:spPr bwMode="auto">
            <a:xfrm>
              <a:off x="1843467" y="0"/>
              <a:ext cx="62730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6" name="Rectangle 964"/>
            <p:cNvSpPr>
              <a:spLocks noChangeArrowheads="1"/>
            </p:cNvSpPr>
            <p:nvPr/>
          </p:nvSpPr>
          <p:spPr bwMode="auto">
            <a:xfrm>
              <a:off x="1891020" y="16568"/>
              <a:ext cx="313652" cy="103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快捷键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7" name="Rectangle 965"/>
            <p:cNvSpPr>
              <a:spLocks noChangeArrowheads="1"/>
            </p:cNvSpPr>
            <p:nvPr/>
          </p:nvSpPr>
          <p:spPr bwMode="auto">
            <a:xfrm>
              <a:off x="2126766" y="0"/>
              <a:ext cx="60707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/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8" name="Rectangle 966"/>
            <p:cNvSpPr>
              <a:spLocks noChangeArrowheads="1"/>
            </p:cNvSpPr>
            <p:nvPr/>
          </p:nvSpPr>
          <p:spPr bwMode="auto">
            <a:xfrm>
              <a:off x="2172295" y="16568"/>
              <a:ext cx="523092" cy="103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辅助功能键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9" name="Rectangle 88256"/>
            <p:cNvSpPr>
              <a:spLocks noChangeArrowheads="1"/>
            </p:cNvSpPr>
            <p:nvPr/>
          </p:nvSpPr>
          <p:spPr bwMode="auto">
            <a:xfrm>
              <a:off x="712294" y="103305"/>
              <a:ext cx="271158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. LCD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0" name="Rectangle 88255"/>
            <p:cNvSpPr>
              <a:spLocks noChangeArrowheads="1"/>
            </p:cNvSpPr>
            <p:nvPr/>
          </p:nvSpPr>
          <p:spPr bwMode="auto">
            <a:xfrm>
              <a:off x="612128" y="103305"/>
              <a:ext cx="133555" cy="132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zh-CN" sz="600" b="1">
                  <a:solidFill>
                    <a:srgbClr val="000000"/>
                  </a:solidFill>
                  <a:latin typeface="Tahoma" panose="020B0604030504040204" pitchFamily="34" charset="0"/>
                  <a:cs typeface="Tahoma" panose="020B0604030504040204" pitchFamily="34" charset="0"/>
                </a:rPr>
                <a:t>18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1" name="Rectangle 968"/>
            <p:cNvSpPr>
              <a:spLocks noChangeArrowheads="1"/>
            </p:cNvSpPr>
            <p:nvPr/>
          </p:nvSpPr>
          <p:spPr bwMode="auto">
            <a:xfrm>
              <a:off x="916674" y="118898"/>
              <a:ext cx="313652" cy="104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7000"/>
                </a:lnSpc>
                <a:spcAft>
                  <a:spcPts val="800"/>
                </a:spcAft>
              </a:pPr>
              <a:r>
                <a:rPr lang="zh-CN" altLang="zh-CN" sz="600">
                  <a:solidFill>
                    <a:srgbClr val="000000"/>
                  </a:solidFill>
                  <a:latin typeface="Tahoma" panose="020B0604030504040204" pitchFamily="34" charset="0"/>
                </a:rPr>
                <a:t>显示屏</a:t>
              </a:r>
              <a:endParaRPr lang="zh-CN" altLang="zh-CN" sz="1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2" name="Shape 969"/>
            <p:cNvSpPr/>
            <p:nvPr/>
          </p:nvSpPr>
          <p:spPr>
            <a:xfrm>
              <a:off x="382603" y="162901"/>
              <a:ext cx="210474" cy="408545"/>
            </a:xfrm>
            <a:custGeom>
              <a:avLst/>
              <a:gdLst/>
              <a:ahLst/>
              <a:cxnLst/>
              <a:rect l="0" t="0" r="0" b="0"/>
              <a:pathLst>
                <a:path w="209914" h="408673">
                  <a:moveTo>
                    <a:pt x="209914" y="0"/>
                  </a:moveTo>
                  <a:lnTo>
                    <a:pt x="0" y="0"/>
                  </a:lnTo>
                  <a:lnTo>
                    <a:pt x="0" y="408673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3" name="Shape 970"/>
            <p:cNvSpPr/>
            <p:nvPr/>
          </p:nvSpPr>
          <p:spPr>
            <a:xfrm>
              <a:off x="350222" y="563688"/>
              <a:ext cx="64761" cy="95672"/>
            </a:xfrm>
            <a:custGeom>
              <a:avLst/>
              <a:gdLst/>
              <a:ahLst/>
              <a:cxnLst/>
              <a:rect l="0" t="0" r="0" b="0"/>
              <a:pathLst>
                <a:path w="64818" h="97173">
                  <a:moveTo>
                    <a:pt x="0" y="0"/>
                  </a:moveTo>
                  <a:lnTo>
                    <a:pt x="64818" y="0"/>
                  </a:lnTo>
                  <a:lnTo>
                    <a:pt x="32409" y="97173"/>
                  </a:lnTo>
                  <a:lnTo>
                    <a:pt x="0" y="0"/>
                  </a:ln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4" name="Shape 971"/>
            <p:cNvSpPr/>
            <p:nvPr/>
          </p:nvSpPr>
          <p:spPr>
            <a:xfrm>
              <a:off x="228369" y="2284058"/>
              <a:ext cx="0" cy="369759"/>
            </a:xfrm>
            <a:custGeom>
              <a:avLst/>
              <a:gdLst/>
              <a:ahLst/>
              <a:cxnLst/>
              <a:rect l="0" t="0" r="0" b="0"/>
              <a:pathLst>
                <a:path h="370229">
                  <a:moveTo>
                    <a:pt x="0" y="0"/>
                  </a:moveTo>
                  <a:lnTo>
                    <a:pt x="0" y="98818"/>
                  </a:lnTo>
                  <a:lnTo>
                    <a:pt x="0" y="185255"/>
                  </a:lnTo>
                  <a:lnTo>
                    <a:pt x="0" y="259297"/>
                  </a:lnTo>
                  <a:lnTo>
                    <a:pt x="0" y="320957"/>
                  </a:lnTo>
                  <a:lnTo>
                    <a:pt x="0" y="370229"/>
                  </a:lnTo>
                </a:path>
              </a:pathLst>
            </a:custGeom>
            <a:ln w="10449" cap="rnd">
              <a:round/>
            </a:ln>
          </p:spPr>
          <p:style>
            <a:lnRef idx="1">
              <a:srgbClr val="FF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3" name="标题 1"/>
          <p:cNvSpPr txBox="1"/>
          <p:nvPr/>
        </p:nvSpPr>
        <p:spPr bwMode="auto">
          <a:xfrm>
            <a:off x="-246185" y="290059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611188" y="1042987"/>
            <a:ext cx="4707164" cy="521607"/>
          </a:xfrm>
        </p:spPr>
        <p:txBody>
          <a:bodyPr/>
          <a:lstStyle/>
          <a:p>
            <a:pPr eaLnBrk="1" hangingPunct="1"/>
            <a:r>
              <a:rPr lang="zh-CN" alt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函数信号发生器使用方法</a:t>
            </a:r>
            <a:endParaRPr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915988" y="1700213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打开电源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选择所需产生的信号波形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选择所需信号的频率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视需要调节输出幅度或信号直流分量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视需要调节占空比</a:t>
            </a:r>
            <a:endParaRPr lang="zh-CN" altLang="en-US" sz="2400" dirty="0"/>
          </a:p>
          <a:p>
            <a:pPr eaLnBrk="1" hangingPunct="1"/>
            <a:r>
              <a:rPr lang="en-US" altLang="zh-CN" sz="2400" dirty="0"/>
              <a:t>TTL</a:t>
            </a:r>
            <a:r>
              <a:rPr lang="zh-CN" altLang="en-US" sz="2400" dirty="0"/>
              <a:t>输出：输出</a:t>
            </a:r>
            <a:r>
              <a:rPr lang="en-US" altLang="zh-CN" sz="2400" dirty="0"/>
              <a:t>TTL</a:t>
            </a:r>
            <a:r>
              <a:rPr lang="zh-CN" altLang="en-US" sz="2400" dirty="0"/>
              <a:t>方波或脉冲波，信号高低电平固定，分别为</a:t>
            </a:r>
            <a:r>
              <a:rPr lang="en-US" altLang="zh-CN" sz="2400" dirty="0"/>
              <a:t>5V</a:t>
            </a:r>
            <a:r>
              <a:rPr lang="zh-CN" altLang="en-US" sz="2400" dirty="0"/>
              <a:t>和</a:t>
            </a:r>
            <a:r>
              <a:rPr lang="en-US" altLang="zh-CN" sz="2400" dirty="0"/>
              <a:t>0V</a:t>
            </a:r>
            <a:endParaRPr lang="en-US" altLang="zh-CN" sz="2400" dirty="0"/>
          </a:p>
          <a:p>
            <a:pPr eaLnBrk="1" hangingPunct="1">
              <a:buFontTx/>
              <a:buNone/>
            </a:pPr>
            <a:endParaRPr lang="en-US" altLang="zh-CN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B25936-6DF3-4DC2-A4E6-B914B3576D44}" type="slidenum">
              <a:rPr lang="en-US" altLang="zh-CN" smtClean="0"/>
            </a:fld>
            <a:endParaRPr lang="en-US" altLang="zh-CN"/>
          </a:p>
        </p:txBody>
      </p:sp>
      <p:sp>
        <p:nvSpPr>
          <p:cNvPr id="3" name="标题 1"/>
          <p:cNvSpPr txBox="1"/>
          <p:nvPr/>
        </p:nvSpPr>
        <p:spPr bwMode="auto">
          <a:xfrm>
            <a:off x="-246185" y="290059"/>
            <a:ext cx="7881257" cy="6640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pPr marL="342900" algn="just"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实验</a:t>
            </a:r>
            <a:r>
              <a:rPr kumimoji="1" lang="en-US" altLang="zh-CN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kumimoji="1" lang="zh-CN" altLang="en-US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数字电路实验环境</a:t>
            </a:r>
            <a:endParaRPr kumimoji="1" lang="zh-CN" altLang="en-US" b="1" kern="12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none" lIns="91440" tIns="45720" rIns="91440" bIns="45720" numCol="1" anchor="ctr" anchorCtr="0" compatLnSpc="1"/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110000"/>
          <a:buFont typeface="Wingdings" panose="05000000000000000000" pitchFamily="2" charset="2"/>
          <a:buNone/>
          <a:defRPr kumimoji="0" lang="en-GB" sz="96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1"/>
        </a:solidFill>
        <a:ln>
          <a:noFill/>
        </a:ln>
      </a:spPr>
      <a:bodyPr vert="horz" wrap="none" lIns="91440" tIns="45720" rIns="91440" bIns="45720" numCol="1" anchor="ctr" anchorCtr="0" compatLnSpc="1"/>
      <a:lstStyle>
        <a:defPPr marL="342900" marR="0" indent="-3429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110000"/>
          <a:buFont typeface="Wingdings" panose="05000000000000000000" pitchFamily="2" charset="2"/>
          <a:buNone/>
          <a:defRPr kumimoji="0" lang="en-GB" sz="96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8_Blueprint">
  <a:themeElements>
    <a:clrScheme name="Blueprint 14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66"/>
      </a:hlink>
      <a:folHlink>
        <a:srgbClr val="000000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38100">
          <a:solidFill>
            <a:schemeClr val="tx2"/>
          </a:solidFill>
          <a:miter lim="800000"/>
        </a:ln>
      </a:spPr>
      <a:bodyPr lIns="90000" anchor="ctr"/>
      <a:lstStyle>
        <a:defPPr algn="ctr">
          <a:lnSpc>
            <a:spcPct val="120000"/>
          </a:lnSpc>
          <a:defRPr sz="3200" dirty="0" smtClean="0">
            <a:solidFill>
              <a:srgbClr val="80008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黑体" panose="02010609060101010101" pitchFamily="2" charset="-122"/>
            <a:ea typeface="黑体" panose="02010609060101010101" pitchFamily="2" charset="-122"/>
          </a:defRPr>
        </a:defPPr>
      </a:lstStyle>
    </a:spDef>
    <a:lnDef>
      <a:spPr bwMode="auto">
        <a:solidFill>
          <a:schemeClr val="tx1"/>
        </a:solidFill>
        <a:ln w="19050" cap="flat" cmpd="sng" algn="ctr">
          <a:solidFill>
            <a:schemeClr val="accent5">
              <a:lumMod val="10000"/>
            </a:schemeClr>
          </a:solidFill>
          <a:prstDash val="solid"/>
          <a:round/>
          <a:headEnd type="none" w="med" len="med"/>
          <a:tailEnd type="arrow"/>
        </a:ln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280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ea typeface="黑体" panose="02010609060101010101" pitchFamily="2" charset="-122"/>
          </a:defRPr>
        </a:defPPr>
      </a:lstStyle>
    </a:tx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9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0D38F1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10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DF6AF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11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748DF8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1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0A2FCC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13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3E61F4"/>
        </a:hlink>
        <a:folHlink>
          <a:srgbClr val="DF6AF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14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000066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HQ的报告">
  <a:themeElements>
    <a:clrScheme name="报告-标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报告-标题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报告-标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报告-标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报告-标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报告-标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报告-标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报告-标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报告-标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报告-标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报告-标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报告-标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报告-标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报告-标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2653</Words>
  <Application>WPS 表格</Application>
  <PresentationFormat>全屏显示(4:3)</PresentationFormat>
  <Paragraphs>521</Paragraphs>
  <Slides>50</Slides>
  <Notes>4</Notes>
  <HiddenSlides>2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50</vt:i4>
      </vt:variant>
    </vt:vector>
  </HeadingPairs>
  <TitlesOfParts>
    <vt:vector size="71" baseType="lpstr">
      <vt:lpstr>Arial</vt:lpstr>
      <vt:lpstr>宋体</vt:lpstr>
      <vt:lpstr>Wingdings</vt:lpstr>
      <vt:lpstr>Tahoma</vt:lpstr>
      <vt:lpstr>黑体</vt:lpstr>
      <vt:lpstr>Times New Roman</vt:lpstr>
      <vt:lpstr>华文新魏</vt:lpstr>
      <vt:lpstr>微软雅黑</vt:lpstr>
      <vt:lpstr>Arial Unicode MS</vt:lpstr>
      <vt:lpstr>Wingdings 2</vt:lpstr>
      <vt:lpstr>Constantia</vt:lpstr>
      <vt:lpstr>Calibri</vt:lpstr>
      <vt:lpstr>Wingdings 2</vt:lpstr>
      <vt:lpstr>华文彩云</vt:lpstr>
      <vt:lpstr>苹方-简</vt:lpstr>
      <vt:lpstr>Wingdings</vt:lpstr>
      <vt:lpstr>Wingdings 2</vt:lpstr>
      <vt:lpstr>华文彩云</vt:lpstr>
      <vt:lpstr>Blueprint</vt:lpstr>
      <vt:lpstr>8_Blueprint</vt:lpstr>
      <vt:lpstr>HQ的报告</vt:lpstr>
      <vt:lpstr>PowerPoint 演示文稿</vt:lpstr>
      <vt:lpstr>实验1 计算机辅助电路仿真技术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练习：</vt:lpstr>
      <vt:lpstr>PowerPoint 演示文稿</vt:lpstr>
      <vt:lpstr>实验2. 数字电路实验环境</vt:lpstr>
      <vt:lpstr>PowerPoint 演示文稿</vt:lpstr>
      <vt:lpstr>示波器</vt:lpstr>
      <vt:lpstr>模拟示波器工作原理</vt:lpstr>
      <vt:lpstr>数字存储示波器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</vt:lpstr>
      <vt:lpstr>PowerPoint 演示文稿</vt:lpstr>
      <vt:lpstr>万用表</vt:lpstr>
      <vt:lpstr>注意事项</vt:lpstr>
      <vt:lpstr>PowerPoint 演示文稿</vt:lpstr>
      <vt:lpstr>PowerPoint 演示文稿</vt:lpstr>
      <vt:lpstr>PowerPoint 演示文稿</vt:lpstr>
      <vt:lpstr>PowerPoint 演示文稿</vt:lpstr>
      <vt:lpstr>直流稳压电源</vt:lpstr>
      <vt:lpstr>稳压电源使用方法</vt:lpstr>
      <vt:lpstr>稳压电源使用注意事项</vt:lpstr>
      <vt:lpstr>函数信号发生器</vt:lpstr>
      <vt:lpstr>函数信号发生器使用方法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2LQoS-- Two-Layered QoS For Mobile Ad Hoc Networks</dc:title>
  <dc:creator>Administrator</dc:creator>
  <cp:lastModifiedBy>于帅</cp:lastModifiedBy>
  <cp:revision>2109</cp:revision>
  <dcterms:created xsi:type="dcterms:W3CDTF">2025-04-02T06:10:02Z</dcterms:created>
  <dcterms:modified xsi:type="dcterms:W3CDTF">2025-04-02T06:10:02Z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9B301078635BBF55BAD4EC6791543DF0_42</vt:lpwstr>
  </property>
  <property fmtid="{D5CDD505-2E9C-101B-9397-08002B2CF9AE}" pid="3" name="KSOProductBuildVer">
    <vt:lpwstr>2052-7.2.2.8955</vt:lpwstr>
  </property>
</Properties>
</file>